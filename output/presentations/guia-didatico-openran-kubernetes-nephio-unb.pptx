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7a88c0db464e27" /><Relationship Type="http://schemas.openxmlformats.org/officeDocument/2006/relationships/extended-properties" Target="/docProps/app.xml" Id="R57eaa990f6574948" /><Relationship Type="http://schemas.openxmlformats.org/officeDocument/2006/relationships/officeDocument" Target="/ppt/presentation.xml" Id="Rf48b57fdc0a740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fde7fd44564121"/>
  </p:sldMasterIdLst>
  <p:notesMasterIdLst>
    <p:notesMasterId xmlns:r="http://schemas.openxmlformats.org/officeDocument/2006/relationships" r:id="Rb42e92dc05ba49be"/>
  </p:notesMasterIdLst>
  <p:sldIdLst>
    <p:sldId xmlns:r="http://schemas.openxmlformats.org/officeDocument/2006/relationships" id="256" r:id="Raa4f7d2f42ee438d"/>
    <p:sldId xmlns:r="http://schemas.openxmlformats.org/officeDocument/2006/relationships" id="257" r:id="R2265747fa6c44067"/>
    <p:sldId xmlns:r="http://schemas.openxmlformats.org/officeDocument/2006/relationships" id="258" r:id="Rdc40a9c5a1b141d5"/>
    <p:sldId xmlns:r="http://schemas.openxmlformats.org/officeDocument/2006/relationships" id="259" r:id="R94bd5f21c6694a2f"/>
    <p:sldId xmlns:r="http://schemas.openxmlformats.org/officeDocument/2006/relationships" id="260" r:id="R16b5729352b24a2e"/>
    <p:sldId xmlns:r="http://schemas.openxmlformats.org/officeDocument/2006/relationships" id="261" r:id="R68ddd7ca6a3049a1"/>
    <p:sldId xmlns:r="http://schemas.openxmlformats.org/officeDocument/2006/relationships" id="262" r:id="Rc5659428f3414f39"/>
    <p:sldId xmlns:r="http://schemas.openxmlformats.org/officeDocument/2006/relationships" id="263" r:id="R2149e1d7a1a24831"/>
    <p:sldId xmlns:r="http://schemas.openxmlformats.org/officeDocument/2006/relationships" id="264" r:id="R93f0ed81d5ea4b74"/>
    <p:sldId xmlns:r="http://schemas.openxmlformats.org/officeDocument/2006/relationships" id="265" r:id="Rcb64aca656134287"/>
    <p:sldId xmlns:r="http://schemas.openxmlformats.org/officeDocument/2006/relationships" id="266" r:id="Rf2722c77483d49f4"/>
    <p:sldId xmlns:r="http://schemas.openxmlformats.org/officeDocument/2006/relationships" id="267" r:id="Rafb0747e38834313"/>
    <p:sldId xmlns:r="http://schemas.openxmlformats.org/officeDocument/2006/relationships" id="268" r:id="R01f371529c67461d"/>
    <p:sldId xmlns:r="http://schemas.openxmlformats.org/officeDocument/2006/relationships" id="269" r:id="R10c4d00508e84cf2"/>
    <p:sldId xmlns:r="http://schemas.openxmlformats.org/officeDocument/2006/relationships" id="270" r:id="R35ae0614bf064ae2"/>
    <p:sldId xmlns:r="http://schemas.openxmlformats.org/officeDocument/2006/relationships" id="271" r:id="R31a7368f88a24f45"/>
    <p:sldId xmlns:r="http://schemas.openxmlformats.org/officeDocument/2006/relationships" id="272" r:id="Rd2f7c5f1d5774e53"/>
    <p:sldId xmlns:r="http://schemas.openxmlformats.org/officeDocument/2006/relationships" id="273" r:id="Rf236f639d6e64661"/>
    <p:sldId xmlns:r="http://schemas.openxmlformats.org/officeDocument/2006/relationships" id="274" r:id="Re4f6333f20474404"/>
    <p:sldId xmlns:r="http://schemas.openxmlformats.org/officeDocument/2006/relationships" id="275" r:id="Rf9527a2cc39c4b9d"/>
    <p:sldId xmlns:r="http://schemas.openxmlformats.org/officeDocument/2006/relationships" id="276" r:id="R9229eb992e794e67"/>
    <p:sldId xmlns:r="http://schemas.openxmlformats.org/officeDocument/2006/relationships" id="277" r:id="Re19d196c79174703"/>
    <p:sldId xmlns:r="http://schemas.openxmlformats.org/officeDocument/2006/relationships" id="278" r:id="R71b39d5b41a944e5"/>
    <p:sldId xmlns:r="http://schemas.openxmlformats.org/officeDocument/2006/relationships" id="279" r:id="R4d13c3700d4149e4"/>
    <p:sldId xmlns:r="http://schemas.openxmlformats.org/officeDocument/2006/relationships" id="280" r:id="Ra1d81d39544d47c9"/>
    <p:sldId xmlns:r="http://schemas.openxmlformats.org/officeDocument/2006/relationships" id="281" r:id="Rfe4a130b01b14fb5"/>
    <p:sldId xmlns:r="http://schemas.openxmlformats.org/officeDocument/2006/relationships" id="282" r:id="R082225da6cc54418"/>
    <p:sldId xmlns:r="http://schemas.openxmlformats.org/officeDocument/2006/relationships" id="283" r:id="Raa18b7ee4616488e"/>
    <p:sldId xmlns:r="http://schemas.openxmlformats.org/officeDocument/2006/relationships" id="284" r:id="Rfb5c842d7b234460"/>
    <p:sldId xmlns:r="http://schemas.openxmlformats.org/officeDocument/2006/relationships" id="285" r:id="R4422be5a96ad4cbd"/>
    <p:sldId xmlns:r="http://schemas.openxmlformats.org/officeDocument/2006/relationships" id="286" r:id="R5b642f3ab17b48e4"/>
    <p:sldId xmlns:r="http://schemas.openxmlformats.org/officeDocument/2006/relationships" id="287" r:id="Racefbbfae8e349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c6b4a376fb44f3" /><Relationship Type="http://schemas.openxmlformats.org/officeDocument/2006/relationships/slideMaster" Target="/ppt/slideMasters/slideMaster1.xml" Id="Raafde7fd44564121" /><Relationship Type="http://schemas.openxmlformats.org/officeDocument/2006/relationships/notesMaster" Target="/ppt/notesMasters/notesMaster1.xml" Id="Rb42e92dc05ba49be" /><Relationship Type="http://schemas.openxmlformats.org/officeDocument/2006/relationships/presProps" Target="/ppt/presProps.xml" Id="R260a2baf193c46ab" /><Relationship Type="http://schemas.openxmlformats.org/officeDocument/2006/relationships/tableStyles" Target="/ppt/tableStyles.xml" Id="R1189f5da2aae4e00" /><Relationship Type="http://schemas.openxmlformats.org/officeDocument/2006/relationships/slide" Target="/ppt/slides/slide1.xml" Id="Raa4f7d2f42ee438d" /><Relationship Type="http://schemas.openxmlformats.org/officeDocument/2006/relationships/slide" Target="/ppt/slides/slide2.xml" Id="R2265747fa6c44067" /><Relationship Type="http://schemas.openxmlformats.org/officeDocument/2006/relationships/slide" Target="/ppt/slides/slide3.xml" Id="Rdc40a9c5a1b141d5" /><Relationship Type="http://schemas.openxmlformats.org/officeDocument/2006/relationships/slide" Target="/ppt/slides/slide4.xml" Id="R94bd5f21c6694a2f" /><Relationship Type="http://schemas.openxmlformats.org/officeDocument/2006/relationships/slide" Target="/ppt/slides/slide5.xml" Id="R16b5729352b24a2e" /><Relationship Type="http://schemas.openxmlformats.org/officeDocument/2006/relationships/slide" Target="/ppt/slides/slide6.xml" Id="R68ddd7ca6a3049a1" /><Relationship Type="http://schemas.openxmlformats.org/officeDocument/2006/relationships/slide" Target="/ppt/slides/slide7.xml" Id="Rc5659428f3414f39" /><Relationship Type="http://schemas.openxmlformats.org/officeDocument/2006/relationships/slide" Target="/ppt/slides/slide8.xml" Id="R2149e1d7a1a24831" /><Relationship Type="http://schemas.openxmlformats.org/officeDocument/2006/relationships/slide" Target="/ppt/slides/slide9.xml" Id="R93f0ed81d5ea4b74" /><Relationship Type="http://schemas.openxmlformats.org/officeDocument/2006/relationships/slide" Target="/ppt/slides/slide10.xml" Id="Rcb64aca656134287" /><Relationship Type="http://schemas.openxmlformats.org/officeDocument/2006/relationships/slide" Target="/ppt/slides/slide11.xml" Id="Rf2722c77483d49f4" /><Relationship Type="http://schemas.openxmlformats.org/officeDocument/2006/relationships/slide" Target="/ppt/slides/slide12.xml" Id="Rafb0747e38834313" /><Relationship Type="http://schemas.openxmlformats.org/officeDocument/2006/relationships/slide" Target="/ppt/slides/slide13.xml" Id="R01f371529c67461d" /><Relationship Type="http://schemas.openxmlformats.org/officeDocument/2006/relationships/slide" Target="/ppt/slides/slide14.xml" Id="R10c4d00508e84cf2" /><Relationship Type="http://schemas.openxmlformats.org/officeDocument/2006/relationships/slide" Target="/ppt/slides/slide15.xml" Id="R35ae0614bf064ae2" /><Relationship Type="http://schemas.openxmlformats.org/officeDocument/2006/relationships/slide" Target="/ppt/slides/slide16.xml" Id="R31a7368f88a24f45" /><Relationship Type="http://schemas.openxmlformats.org/officeDocument/2006/relationships/slide" Target="/ppt/slides/slide17.xml" Id="Rd2f7c5f1d5774e53" /><Relationship Type="http://schemas.openxmlformats.org/officeDocument/2006/relationships/slide" Target="/ppt/slides/slide18.xml" Id="Rf236f639d6e64661" /><Relationship Type="http://schemas.openxmlformats.org/officeDocument/2006/relationships/slide" Target="/ppt/slides/slide19.xml" Id="Re4f6333f20474404" /><Relationship Type="http://schemas.openxmlformats.org/officeDocument/2006/relationships/slide" Target="/ppt/slides/slide20.xml" Id="Rf9527a2cc39c4b9d" /><Relationship Type="http://schemas.openxmlformats.org/officeDocument/2006/relationships/slide" Target="/ppt/slides/slide21.xml" Id="R9229eb992e794e67" /><Relationship Type="http://schemas.openxmlformats.org/officeDocument/2006/relationships/slide" Target="/ppt/slides/slide22.xml" Id="Re19d196c79174703" /><Relationship Type="http://schemas.openxmlformats.org/officeDocument/2006/relationships/slide" Target="/ppt/slides/slide23.xml" Id="R71b39d5b41a944e5" /><Relationship Type="http://schemas.openxmlformats.org/officeDocument/2006/relationships/slide" Target="/ppt/slides/slide24.xml" Id="R4d13c3700d4149e4" /><Relationship Type="http://schemas.openxmlformats.org/officeDocument/2006/relationships/slide" Target="/ppt/slides/slide25.xml" Id="Ra1d81d39544d47c9" /><Relationship Type="http://schemas.openxmlformats.org/officeDocument/2006/relationships/slide" Target="/ppt/slides/slide26.xml" Id="Rfe4a130b01b14fb5" /><Relationship Type="http://schemas.openxmlformats.org/officeDocument/2006/relationships/slide" Target="/ppt/slides/slide27.xml" Id="R082225da6cc54418" /><Relationship Type="http://schemas.openxmlformats.org/officeDocument/2006/relationships/slide" Target="/ppt/slides/slide28.xml" Id="Raa18b7ee4616488e" /><Relationship Type="http://schemas.openxmlformats.org/officeDocument/2006/relationships/slide" Target="/ppt/slides/slide29.xml" Id="Rfb5c842d7b234460" /><Relationship Type="http://schemas.openxmlformats.org/officeDocument/2006/relationships/slide" Target="/ppt/slides/slide30.xml" Id="R4422be5a96ad4cbd" /><Relationship Type="http://schemas.openxmlformats.org/officeDocument/2006/relationships/slide" Target="/ppt/slides/slide31.xml" Id="R5b642f3ab17b48e4" /><Relationship Type="http://schemas.openxmlformats.org/officeDocument/2006/relationships/slide" Target="/ppt/slides/slide32.xml" Id="Racefbbfae8e349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30df6ddc4d4d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c51d4b166447c0" /><Relationship Type="http://schemas.openxmlformats.org/officeDocument/2006/relationships/notesMaster" Target="/ppt/notesMasters/notesMaster1.xml" Id="R29fe609e37844e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65cadc8bda4c8b" /><Relationship Type="http://schemas.openxmlformats.org/officeDocument/2006/relationships/notesMaster" Target="/ppt/notesMasters/notesMaster1.xml" Id="R411a3f62707c45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12cfa52c694ed7" /><Relationship Type="http://schemas.openxmlformats.org/officeDocument/2006/relationships/notesMaster" Target="/ppt/notesMasters/notesMaster1.xml" Id="R7718d709898142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a172dba76c4796" /><Relationship Type="http://schemas.openxmlformats.org/officeDocument/2006/relationships/notesMaster" Target="/ppt/notesMasters/notesMaster1.xml" Id="R93909dcba77448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f89783650246bb" /><Relationship Type="http://schemas.openxmlformats.org/officeDocument/2006/relationships/notesMaster" Target="/ppt/notesMasters/notesMaster1.xml" Id="Ra41b0c5df9954a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51019f5e194b8a" /><Relationship Type="http://schemas.openxmlformats.org/officeDocument/2006/relationships/notesMaster" Target="/ppt/notesMasters/notesMaster1.xml" Id="R19def109179d46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c5130c3e754814" /><Relationship Type="http://schemas.openxmlformats.org/officeDocument/2006/relationships/notesMaster" Target="/ppt/notesMasters/notesMaster1.xml" Id="Rfdecbd9645f14e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4f5784630e4995" /><Relationship Type="http://schemas.openxmlformats.org/officeDocument/2006/relationships/notesMaster" Target="/ppt/notesMasters/notesMaster1.xml" Id="R0c00090134a64f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0f540a02a144f62" /><Relationship Type="http://schemas.openxmlformats.org/officeDocument/2006/relationships/notesMaster" Target="/ppt/notesMasters/notesMaster1.xml" Id="R289c5a807f424be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683d3a72684aae" /><Relationship Type="http://schemas.openxmlformats.org/officeDocument/2006/relationships/notesMaster" Target="/ppt/notesMasters/notesMaster1.xml" Id="R707ca611d25444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ca72fe2e4849cc" /><Relationship Type="http://schemas.openxmlformats.org/officeDocument/2006/relationships/notesMaster" Target="/ppt/notesMasters/notesMaster1.xml" Id="R6323811ad44445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273d6ea358c49cf" /><Relationship Type="http://schemas.openxmlformats.org/officeDocument/2006/relationships/notesMaster" Target="/ppt/notesMasters/notesMaster1.xml" Id="R78a9ce07298c467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b3bfa8108874320" /><Relationship Type="http://schemas.openxmlformats.org/officeDocument/2006/relationships/notesMaster" Target="/ppt/notesMasters/notesMaster1.xml" Id="R4f03edf927bc434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dc6b034c3bd4d13" /><Relationship Type="http://schemas.openxmlformats.org/officeDocument/2006/relationships/notesMaster" Target="/ppt/notesMasters/notesMaster1.xml" Id="R7a94fa05b0d94c2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354ed0f42c2498f" /><Relationship Type="http://schemas.openxmlformats.org/officeDocument/2006/relationships/notesMaster" Target="/ppt/notesMasters/notesMaster1.xml" Id="Rb49bec6fa9d84ac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dd7e4f1c87146f5" /><Relationship Type="http://schemas.openxmlformats.org/officeDocument/2006/relationships/notesMaster" Target="/ppt/notesMasters/notesMaster1.xml" Id="R342b732bcf3d4bd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a2e95b87a924d49" /><Relationship Type="http://schemas.openxmlformats.org/officeDocument/2006/relationships/notesMaster" Target="/ppt/notesMasters/notesMaster1.xml" Id="Red50e3e5d9a4441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56d26f9ecf54292" /><Relationship Type="http://schemas.openxmlformats.org/officeDocument/2006/relationships/notesMaster" Target="/ppt/notesMasters/notesMaster1.xml" Id="Rcd5dbd526e194ee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68389c01d934616" /><Relationship Type="http://schemas.openxmlformats.org/officeDocument/2006/relationships/notesMaster" Target="/ppt/notesMasters/notesMaster1.xml" Id="R68e0290575464a7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4a229c4e1e444e2" /><Relationship Type="http://schemas.openxmlformats.org/officeDocument/2006/relationships/notesMaster" Target="/ppt/notesMasters/notesMaster1.xml" Id="R741475f75a99478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98f59e402644636" /><Relationship Type="http://schemas.openxmlformats.org/officeDocument/2006/relationships/notesMaster" Target="/ppt/notesMasters/notesMaster1.xml" Id="R82a8ff7c8917465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95eda19ce9b4103" /><Relationship Type="http://schemas.openxmlformats.org/officeDocument/2006/relationships/notesMaster" Target="/ppt/notesMasters/notesMaster1.xml" Id="Rfedd80bb30fd486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36977e9b6f84b8a" /><Relationship Type="http://schemas.openxmlformats.org/officeDocument/2006/relationships/notesMaster" Target="/ppt/notesMasters/notesMaster1.xml" Id="Re35b6d12cf5a41b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ad0a975c059449d" /><Relationship Type="http://schemas.openxmlformats.org/officeDocument/2006/relationships/notesMaster" Target="/ppt/notesMasters/notesMaster1.xml" Id="Rfc6928b86b6a4fa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721349f58c94a8d" /><Relationship Type="http://schemas.openxmlformats.org/officeDocument/2006/relationships/notesMaster" Target="/ppt/notesMasters/notesMaster1.xml" Id="R4db48b4e85614e0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87de635576f47d2" /><Relationship Type="http://schemas.openxmlformats.org/officeDocument/2006/relationships/notesMaster" Target="/ppt/notesMasters/notesMaster1.xml" Id="Re0dfbc272aaa402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297c4ee460a4111" /><Relationship Type="http://schemas.openxmlformats.org/officeDocument/2006/relationships/notesMaster" Target="/ppt/notesMasters/notesMaster1.xml" Id="Reff811e7c0344ed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eea173a358c47d8" /><Relationship Type="http://schemas.openxmlformats.org/officeDocument/2006/relationships/notesMaster" Target="/ppt/notesMasters/notesMaster1.xml" Id="R8f816391056f40b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4ba2096ba784193" /><Relationship Type="http://schemas.openxmlformats.org/officeDocument/2006/relationships/notesMaster" Target="/ppt/notesMasters/notesMaster1.xml" Id="R1dcf5d7258bd4ff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4398a37c3c349b9" /><Relationship Type="http://schemas.openxmlformats.org/officeDocument/2006/relationships/notesMaster" Target="/ppt/notesMasters/notesMaster1.xml" Id="R5749b3eaca7941d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4e07a58c76a4eb0" /><Relationship Type="http://schemas.openxmlformats.org/officeDocument/2006/relationships/notesMaster" Target="/ppt/notesMasters/notesMaster1.xml" Id="Re4fc4c3790ff4ed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f754b1b71024933" /><Relationship Type="http://schemas.openxmlformats.org/officeDocument/2006/relationships/notesMaster" Target="/ppt/notesMasters/notesMaster1.xml" Id="Rcdedf97aa72c42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docs/STATUS.md</a:t>
            </a:r>
          </a:p>
          <a:p xmlns:a="http://schemas.openxmlformats.org/drawingml/2006/main">
            <a:r>
              <a:t>- Logo: https://cen.unb.br/wp-content/uploads/2025/02/logo_unb_oficial_2025.png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Objetivos didáticos definidos para esta apresentação</a:t>
            </a:r>
          </a:p>
          <a:p xmlns:a="http://schemas.openxmlformats.org/drawingml/2006/main">
            <a:r>
              <a:t>- README.md#Student-xApp-laboratory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README.md#Architecture</a:t>
            </a:r>
          </a:p>
          <a:p xmlns:a="http://schemas.openxmlformats.org/drawingml/2006/main">
            <a:r>
              <a:t>- docs/NMI_DEPLOYMENT.md</a:t>
            </a:r>
          </a:p>
          <a:p xmlns:a="http://schemas.openxmlformats.org/drawingml/2006/main">
            <a:r>
              <a:t>- docs/OBSERVABILITY.md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https://kubernetes.io/docs/concepts/</a:t>
            </a:r>
          </a:p>
          <a:p xmlns:a="http://schemas.openxmlformats.org/drawingml/2006/main">
            <a:r>
              <a:t>- https://docs.nephio.org/docs/porch/</a:t>
            </a:r>
          </a:p>
          <a:p xmlns:a="http://schemas.openxmlformats.org/drawingml/2006/main">
            <a:r>
              <a:t>- docs/NEPHIO_POC_PLAN.md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docs/NMI_DEPLOYMENT.md</a:t>
            </a:r>
          </a:p>
          <a:p xmlns:a="http://schemas.openxmlformats.org/drawingml/2006/main">
            <a:r>
              <a:t>- Inventário ao vivo do cluster NMI em 2026-09-01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https://kubernetes.io/docs/concepts/overview/working-with-objects/</a:t>
            </a:r>
          </a:p>
          <a:p xmlns:a="http://schemas.openxmlformats.org/drawingml/2006/main">
            <a:r>
              <a:t>- https://kubernetes.io/docs/concepts/workloads/pods/</a:t>
            </a:r>
          </a:p>
          <a:p xmlns:a="http://schemas.openxmlformats.org/drawingml/2006/main">
            <a:r>
              <a:t>- https://kubernetes.io/docs/concepts/services-networking/service/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https://kubernetes.io/docs/concepts/overview/working-with-objects/namespaces/</a:t>
            </a:r>
          </a:p>
          <a:p xmlns:a="http://schemas.openxmlformats.org/drawingml/2006/main">
            <a:r>
              <a:t>- Snapshot kubectl do cluster NMI em 2026-09-01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https://www.o-ran.org/</a:t>
            </a:r>
          </a:p>
          <a:p xmlns:a="http://schemas.openxmlformats.org/drawingml/2006/main">
            <a:r>
              <a:t>- README.md#Architecture</a:t>
            </a:r>
          </a:p>
          <a:p xmlns:a="http://schemas.openxmlformats.org/drawingml/2006/main">
            <a:r>
              <a:t>- docs/STATUS.md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docs/UE_SIMULATION_LAB.md</a:t>
            </a:r>
          </a:p>
          <a:p xmlns:a="http://schemas.openxmlformats.org/drawingml/2006/main">
            <a:r>
              <a:t>- helm/5g-core/</a:t>
            </a:r>
          </a:p>
          <a:p xmlns:a="http://schemas.openxmlformats.org/drawingml/2006/main">
            <a:r>
              <a:t>- docs/STATUS.md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docs/STATUS.md</a:t>
            </a:r>
          </a:p>
          <a:p xmlns:a="http://schemas.openxmlformats.org/drawingml/2006/main">
            <a:r>
              <a:t>- xapps/python/xAppBase.py</a:t>
            </a:r>
          </a:p>
          <a:p xmlns:a="http://schemas.openxmlformats.org/drawingml/2006/main">
            <a:r>
              <a:t>- O-RAN Near-RT RIC research report: https://mediastorage.o-ran.org/ngrg-rr/nGRG-RR-2023-02-Native%20AI%20Architecture%20Description-v1.2.pdf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README.md#Architecture</a:t>
            </a:r>
          </a:p>
          <a:p xmlns:a="http://schemas.openxmlformats.org/drawingml/2006/main">
            <a:r>
              <a:t>- docs/OBSERVABILITY.md</a:t>
            </a:r>
          </a:p>
          <a:p xmlns:a="http://schemas.openxmlformats.org/drawingml/2006/main">
            <a:r>
              <a:t>- infra/nephio/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scripts/demo-kpm.sh</a:t>
            </a:r>
          </a:p>
          <a:p xmlns:a="http://schemas.openxmlformats.org/drawingml/2006/main">
            <a:r>
              <a:t>- scripts/demo-ue-lab.sh</a:t>
            </a:r>
          </a:p>
          <a:p xmlns:a="http://schemas.openxmlformats.org/drawingml/2006/main">
            <a:r>
              <a:t>- docs/UE_SIMULATION_LAB.md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xapps/python/kpm_mon_xapp.py</a:t>
            </a:r>
          </a:p>
          <a:p xmlns:a="http://schemas.openxmlformats.org/drawingml/2006/main">
            <a:r>
              <a:t>- xapps/python/kpm_load_watch_xapp.py</a:t>
            </a:r>
          </a:p>
          <a:p xmlns:a="http://schemas.openxmlformats.org/drawingml/2006/main">
            <a:r>
              <a:t>- helm/near-rt-ric/</a:t>
            </a:r>
          </a:p>
          <a:p xmlns:a="http://schemas.openxmlformats.org/drawingml/2006/main">
            <a:r>
              <a:t>- docs/STATUS.md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packages/nephio/r4-simple-mon/README.md</a:t>
            </a:r>
          </a:p>
          <a:p xmlns:a="http://schemas.openxmlformats.org/drawingml/2006/main">
            <a:r>
              <a:t>- packages/nephio/kpm-load-watch/README.md</a:t>
            </a:r>
          </a:p>
          <a:p xmlns:a="http://schemas.openxmlformats.org/drawingml/2006/main">
            <a:r>
              <a:t>- docs/STATUS.md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https://docs.nephio.org/docs/porch/</a:t>
            </a:r>
          </a:p>
          <a:p xmlns:a="http://schemas.openxmlformats.org/drawingml/2006/main">
            <a:r>
              <a:t>- https://docs.nephio.org/docs/guides/user-guides/usecase-user-guides/exercise-3-fluxcd-wl/</a:t>
            </a:r>
          </a:p>
          <a:p xmlns:a="http://schemas.openxmlformats.org/drawingml/2006/main">
            <a:r>
              <a:t>- infra/nephio/</a:t>
            </a:r>
          </a:p>
          <a:p xmlns:a="http://schemas.openxmlformats.org/drawingml/2006/main">
            <a:r>
              <a:t>- docs/NEPHIO_POC_PLAN.md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infra/nephio/blueprints/</a:t>
            </a:r>
          </a:p>
          <a:p xmlns:a="http://schemas.openxmlformats.org/drawingml/2006/main">
            <a:r>
              <a:t>- infra/nephio/nmi-onboarding/</a:t>
            </a:r>
          </a:p>
          <a:p xmlns:a="http://schemas.openxmlformats.org/drawingml/2006/main">
            <a:r>
              <a:t>- Flux Kustomizations Ready no snapshot de 2026-09-01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docs/NEPHIO_POC_PLAN.md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https://docs.nephio.org/docs/porch/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docs/NMI_DEPLOYMENT.md</a:t>
            </a:r>
          </a:p>
          <a:p xmlns:a="http://schemas.openxmlformats.org/drawingml/2006/main">
            <a:r>
              <a:t>- docs/CIC_ARM_CLUSTER.md</a:t>
            </a:r>
          </a:p>
          <a:p xmlns:a="http://schemas.openxmlformats.org/drawingml/2006/main">
            <a:r>
              <a:t>- docs/STATUS.md</a:t>
            </a:r>
          </a:p>
          <a:p xmlns:a="http://schemas.openxmlformats.org/drawingml/2006/main">
            <a:r>
              <a:t>- Inventário ao vivo NMI em 2026-09-01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Snapshot kubectl get nodes/pods em 2026-09-01</a:t>
            </a:r>
          </a:p>
          <a:p xmlns:a="http://schemas.openxmlformats.org/drawingml/2006/main">
            <a:r>
              <a:t>- docs/NMI_DEPLOYMENT.md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docs/CIC_ARM_CLUSTER.md</a:t>
            </a:r>
          </a:p>
          <a:p xmlns:a="http://schemas.openxmlformats.org/drawingml/2006/main">
            <a:r>
              <a:t>- docs/STATUS.md</a:t>
            </a:r>
          </a:p>
          <a:p xmlns:a="http://schemas.openxmlformats.org/drawingml/2006/main">
            <a:r>
              <a:t>- README.md#Option-D-CIC-ARM64-laboratory-cluster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docs/NMI_DEPLOYMENT.md</a:t>
            </a:r>
          </a:p>
          <a:p xmlns:a="http://schemas.openxmlformats.org/drawingml/2006/main">
            <a:r>
              <a:t>- ansible/roles/</a:t>
            </a:r>
          </a:p>
          <a:p xmlns:a="http://schemas.openxmlformats.org/drawingml/2006/main">
            <a:r>
              <a:t>- https://kubernetes.io/docs/concepts/services-networking/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README.md#Repository-structure</a:t>
            </a:r>
          </a:p>
          <a:p xmlns:a="http://schemas.openxmlformats.org/drawingml/2006/main">
            <a:r>
              <a:t>- Estrutura atual do repositório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docs/STATUS.md</a:t>
            </a:r>
          </a:p>
          <a:p xmlns:a="http://schemas.openxmlformats.org/drawingml/2006/main">
            <a:r>
              <a:t>- git log do repositório até 2026-09-01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docs/STATUS.md</a:t>
            </a:r>
          </a:p>
          <a:p xmlns:a="http://schemas.openxmlformats.org/drawingml/2006/main">
            <a:r>
              <a:t>- scripts/demo-load-watch.sh</a:t>
            </a:r>
          </a:p>
          <a:p xmlns:a="http://schemas.openxmlformats.org/drawingml/2006/main">
            <a:r>
              <a:t>- Snapshot Flux/Nephio de 2026-09-01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docs/STATUS.md</a:t>
            </a:r>
          </a:p>
          <a:p xmlns:a="http://schemas.openxmlformats.org/drawingml/2006/main">
            <a:r>
              <a:t>- scripts/demo-kpm-multisite.sh</a:t>
            </a:r>
          </a:p>
          <a:p xmlns:a="http://schemas.openxmlformats.org/drawingml/2006/main">
            <a:r>
              <a:t>- PackageVariants simple-mon-nmi-v5 e simple-mon-cic-arm64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docs/UE_SIMULATION_LAB.md</a:t>
            </a:r>
          </a:p>
          <a:p xmlns:a="http://schemas.openxmlformats.org/drawingml/2006/main">
            <a:r>
              <a:t>- docs/STATUS.md</a:t>
            </a:r>
          </a:p>
          <a:p xmlns:a="http://schemas.openxmlformats.org/drawingml/2006/main">
            <a:r>
              <a:t>- helm/ran/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docs/STUDENT_XAPP_LAB.md</a:t>
            </a:r>
          </a:p>
          <a:p xmlns:a="http://schemas.openxmlformats.org/drawingml/2006/main">
            <a:r>
              <a:t>- output/pdf/tutorial-aluno-xapp-nephio-openran-unb.pdf</a:t>
            </a:r>
          </a:p>
          <a:p xmlns:a="http://schemas.openxmlformats.org/drawingml/2006/main">
            <a:r>
              <a:t>- scripts/new-kpm-xapp.sh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README.md#Quick-start</a:t>
            </a:r>
          </a:p>
          <a:p xmlns:a="http://schemas.openxmlformats.org/drawingml/2006/main">
            <a:r>
              <a:t>- docs/STUDENT_XAPP_LAB.md</a:t>
            </a:r>
          </a:p>
          <a:p xmlns:a="http://schemas.openxmlformats.org/drawingml/2006/main">
            <a:r>
              <a:t>- docs/UE_SIMULATION_LAB.md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docs/STATUS.md</a:t>
            </a:r>
          </a:p>
          <a:p xmlns:a="http://schemas.openxmlformats.org/drawingml/2006/main">
            <a:r>
              <a:t>- scripts/demo-load-watch.sh</a:t>
            </a:r>
          </a:p>
          <a:p xmlns:a="http://schemas.openxmlformats.org/drawingml/2006/main">
            <a:r>
              <a:t>- scripts/demo-kpm-multisite.sh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Serviços NodePort consultados no cluster NMI em 2026-09-01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docs/STATUS.md</a:t>
            </a:r>
          </a:p>
          <a:p xmlns:a="http://schemas.openxmlformats.org/drawingml/2006/main">
            <a:r>
              <a:t>- docs/UE_SIMULATION_LAB.md</a:t>
            </a:r>
          </a:p>
          <a:p xmlns:a="http://schemas.openxmlformats.org/drawingml/2006/main">
            <a:r>
              <a:t>- Objetivo declarado da PoC acadêmica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docs/STUDENT_XAPP_LAB.md</a:t>
            </a:r>
          </a:p>
          <a:p xmlns:a="http://schemas.openxmlformats.org/drawingml/2006/main">
            <a:r>
              <a:t>- docs/STATUS.md</a:t>
            </a:r>
          </a:p>
          <a:p xmlns:a="http://schemas.openxmlformats.org/drawingml/2006/main">
            <a:r>
              <a:t>- Logo: https://cen.unb.br/wp-content/uploads/2025/02/logo_unb_oficial_2025.png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67157199f147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9d5661ca0a4910" /><Relationship Type="http://schemas.openxmlformats.org/officeDocument/2006/relationships/slideLayout" Target="/ppt/slideLayouts/slideLayout1.xml" Id="R211a1440645c47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1a1440645c47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d50345d6b4ffa" /><Relationship Type="http://schemas.openxmlformats.org/officeDocument/2006/relationships/image" Target="/ppt/media/image.png" Id="R859d1998ca394f6a" /><Relationship Type="http://schemas.openxmlformats.org/officeDocument/2006/relationships/notesSlide" Target="/ppt/notesSlides/notesSlide1.xml" Id="R7875520f414649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f3632cedd4ec9" /><Relationship Type="http://schemas.openxmlformats.org/officeDocument/2006/relationships/notesSlide" Target="/ppt/notesSlides/notesSlide2.xml" Id="R6ae22a1bd57549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cec5fca7b94100" /><Relationship Type="http://schemas.openxmlformats.org/officeDocument/2006/relationships/notesSlide" Target="/ppt/notesSlides/notesSlide3.xml" Id="Ra586f4af0ae347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890808eb94708" /><Relationship Type="http://schemas.openxmlformats.org/officeDocument/2006/relationships/notesSlide" Target="/ppt/notesSlides/notesSlide4.xml" Id="R1455127e593a42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2166268a94601" /><Relationship Type="http://schemas.openxmlformats.org/officeDocument/2006/relationships/notesSlide" Target="/ppt/notesSlides/notesSlide5.xml" Id="Ref197dba57224e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2152e051744e9" /><Relationship Type="http://schemas.openxmlformats.org/officeDocument/2006/relationships/notesSlide" Target="/ppt/notesSlides/notesSlide6.xml" Id="Rbfbe512415ae4f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303ffd8c84b23" /><Relationship Type="http://schemas.openxmlformats.org/officeDocument/2006/relationships/notesSlide" Target="/ppt/notesSlides/notesSlide7.xml" Id="Re4a52bf53ad94f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886bbfb2bc4417" /><Relationship Type="http://schemas.openxmlformats.org/officeDocument/2006/relationships/notesSlide" Target="/ppt/notesSlides/notesSlide8.xml" Id="R5f96d76537fe4e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920e139534b51" /><Relationship Type="http://schemas.openxmlformats.org/officeDocument/2006/relationships/notesSlide" Target="/ppt/notesSlides/notesSlide9.xml" Id="Rcc8b63d7b13d44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3a3d66ebe4ef4" /><Relationship Type="http://schemas.openxmlformats.org/officeDocument/2006/relationships/notesSlide" Target="/ppt/notesSlides/notesSlide10.xml" Id="R9f6825390414445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405f68b1840f0" /><Relationship Type="http://schemas.openxmlformats.org/officeDocument/2006/relationships/notesSlide" Target="/ppt/notesSlides/notesSlide11.xml" Id="R6adb480b8bbe46e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19a47e42d4e30" /><Relationship Type="http://schemas.openxmlformats.org/officeDocument/2006/relationships/notesSlide" Target="/ppt/notesSlides/notesSlide12.xml" Id="Rc2a0e9fae513404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c591e765b45de" /><Relationship Type="http://schemas.openxmlformats.org/officeDocument/2006/relationships/notesSlide" Target="/ppt/notesSlides/notesSlide13.xml" Id="R1debc997c7304a9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eab8d29e34d84" /><Relationship Type="http://schemas.openxmlformats.org/officeDocument/2006/relationships/notesSlide" Target="/ppt/notesSlides/notesSlide14.xml" Id="R23bc107dbcb1406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fcc7f6a1945dd" /><Relationship Type="http://schemas.openxmlformats.org/officeDocument/2006/relationships/notesSlide" Target="/ppt/notesSlides/notesSlide15.xml" Id="Rd7d1174fb2d649c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b3c9c7a0f4fa7" /><Relationship Type="http://schemas.openxmlformats.org/officeDocument/2006/relationships/notesSlide" Target="/ppt/notesSlides/notesSlide16.xml" Id="R9056def6f2af4bf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a7024f01f48fe" /><Relationship Type="http://schemas.openxmlformats.org/officeDocument/2006/relationships/notesSlide" Target="/ppt/notesSlides/notesSlide17.xml" Id="R33ea39075528423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0aaa523d14da6" /><Relationship Type="http://schemas.openxmlformats.org/officeDocument/2006/relationships/notesSlide" Target="/ppt/notesSlides/notesSlide18.xml" Id="Rb95e01807ce147b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58df2d3ef4e85" /><Relationship Type="http://schemas.openxmlformats.org/officeDocument/2006/relationships/notesSlide" Target="/ppt/notesSlides/notesSlide19.xml" Id="R88a8f7bd11b34c4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47413528b476f" /><Relationship Type="http://schemas.openxmlformats.org/officeDocument/2006/relationships/notesSlide" Target="/ppt/notesSlides/notesSlide20.xml" Id="Re4b8a9e1e2b842e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2ea627de4400b" /><Relationship Type="http://schemas.openxmlformats.org/officeDocument/2006/relationships/notesSlide" Target="/ppt/notesSlides/notesSlide21.xml" Id="R0bb68aa3cc654e9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9bc6cd8454e34" /><Relationship Type="http://schemas.openxmlformats.org/officeDocument/2006/relationships/notesSlide" Target="/ppt/notesSlides/notesSlide22.xml" Id="Rf3fe671bbeac488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219d474be4ffd" /><Relationship Type="http://schemas.openxmlformats.org/officeDocument/2006/relationships/notesSlide" Target="/ppt/notesSlides/notesSlide23.xml" Id="Reb5b78ad088f437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5f627d4204920" /><Relationship Type="http://schemas.openxmlformats.org/officeDocument/2006/relationships/notesSlide" Target="/ppt/notesSlides/notesSlide24.xml" Id="R73fdfde155404c8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ad158c2de4710" /><Relationship Type="http://schemas.openxmlformats.org/officeDocument/2006/relationships/notesSlide" Target="/ppt/notesSlides/notesSlide25.xml" Id="Rdda9f3d2bc0b4db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e480e16514fa7" /><Relationship Type="http://schemas.openxmlformats.org/officeDocument/2006/relationships/notesSlide" Target="/ppt/notesSlides/notesSlide26.xml" Id="R852f5a59b4dc42b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04fbd366214b11" /><Relationship Type="http://schemas.openxmlformats.org/officeDocument/2006/relationships/notesSlide" Target="/ppt/notesSlides/notesSlide27.xml" Id="R9419cba95be1491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52760bc21464b" /><Relationship Type="http://schemas.openxmlformats.org/officeDocument/2006/relationships/notesSlide" Target="/ppt/notesSlides/notesSlide28.xml" Id="Rd3d7637842de472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91363f9b944d3" /><Relationship Type="http://schemas.openxmlformats.org/officeDocument/2006/relationships/notesSlide" Target="/ppt/notesSlides/notesSlide29.xml" Id="Rc0164c9d24574f4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409f5ff2b4f64" /><Relationship Type="http://schemas.openxmlformats.org/officeDocument/2006/relationships/notesSlide" Target="/ppt/notesSlides/notesSlide30.xml" Id="R714c69f0cff9493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aee28d8a94966" /><Relationship Type="http://schemas.openxmlformats.org/officeDocument/2006/relationships/notesSlide" Target="/ppt/notesSlides/notesSlide31.xml" Id="R2706b5cf63f543b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542c0e11940ed" /><Relationship Type="http://schemas.openxmlformats.org/officeDocument/2006/relationships/image" Target="/ppt/media/image2.png" Id="Rf44a7ec006a34f23" /><Relationship Type="http://schemas.openxmlformats.org/officeDocument/2006/relationships/notesSlide" Target="/ppt/notesSlides/notesSlide32.xml" Id="Rf338d2f999154f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0DA7C5-9633-4FDF-AE8C-84D3B819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C3A"/>
          </a:solidFill>
          <a:ln xmlns:a="http://schemas.openxmlformats.org/drawingml/2006/main" w="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7129B-E5E3-4CE5-A6EC-564F9D46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UNIVERSIDADE DE BRASÍLIA · FT · NMI + CIC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3D9C8-215E-4114-A555-B31A7FC0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733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082A4D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082A4D"/>
                </a:solidFill>
                <a:latin typeface="Arial"/>
                <a:ea typeface="Arial"/>
                <a:cs typeface="Arial"/>
              </a:rPr>
              <a:t>Open RAN sem mistério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037A8-5CB4-45C3-B501-CDF1A929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Kubernetes, Nephio, 5G Core, RIC, xApps e o laboratório que construímos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5FC8F7-44C1-4414-8ED7-42DC4CE0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6667500" cy="1238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F4ED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67F1F-54DF-43C8-B8AA-ADA417CD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632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PARA QUEM ESTÁ COMEÇANDO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F4D9F5-D4F2-4E39-A1DF-58CE59A6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0075"/>
            <a:ext cx="632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Uma visão do servidor físico até o KPI no Grafana — com o caminho para reproduzir e criar novos experimentos.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A323C3-B97F-41EE-A157-0AE7A031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876300"/>
            <a:ext cx="3162300" cy="4514850"/>
          </a:xfrm>
          <a:prstGeom xmlns:a="http://schemas.openxmlformats.org/drawingml/2006/main" prst="roundRect">
            <a:avLst>
              <a:gd name="adj" fmla="val 5422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143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9d1998ca394f6a"/>
          <a:stretch xmlns:a="http://schemas.openxmlformats.org/drawingml/2006/main"/>
        </p:blipFill>
        <p:spPr>
          <a:xfrm xmlns:a="http://schemas.openxmlformats.org/drawingml/2006/main">
            <a:off x="9281941" y="1257300"/>
            <a:ext cx="1190968" cy="1047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9F186C-77B3-47E0-8D0A-3CEF9274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24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3E7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3E75"/>
                </a:solidFill>
                <a:latin typeface="Arial"/>
                <a:ea typeface="Arial"/>
                <a:cs typeface="Arial"/>
              </a:rPr>
              <a:t>GUIA DIDÁTICO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881E32-B46C-43D4-A98E-4BDB962E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57550"/>
            <a:ext cx="23622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NMI · amd64</a:t>
            </a:r>
          </a:p>
          <a:p xmlns:a="http://schemas.openxmlformats.org/drawingml/2006/main">
            <a:pPr algn="ctr">
              <a:defRPr sz="1800" b="1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CIC · arm64</a:t>
            </a:r>
          </a:p>
          <a:p xmlns:a="http://schemas.openxmlformats.org/drawingml/2006/main">
            <a:pPr algn="ctr">
              <a:defRPr sz="1800" b="1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Open RAN simulada</a:t>
            </a:r>
          </a:p>
          <a:p xmlns:a="http://schemas.openxmlformats.org/drawingml/2006/main">
            <a:pPr algn="ctr">
              <a:defRPr sz="1800" b="1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Nephio + GitOps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E8FE8E-302C-4BFE-8329-584DAC86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38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1º de setembro de 2026</a:t>
            </a:r>
          </a:p>
        </p:txBody>
      </p:sp>
    </p:spTree>
    <p:extLst>
      <p:ext uri="{BB962C8B-B14F-4D97-AF65-F5344CB8AC3E}">
        <p14:creationId xmlns:p14="http://schemas.microsoft.com/office/powerpoint/2010/main" val="3755163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E3DAF9-389F-4025-92C7-611FBA0E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GUIA DIDÁTICO · OPEN RAN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F9EA5-E3D1-41B2-B442-9B091486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Ao final, cada camada terá um dono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8CA5F2-0998-4E2E-9ABD-D1FC57D9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AD52C7-896C-4EE7-B9F1-71226133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CE4CF-0EEC-4635-B860-328B573C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PoC acadêmica · VPN institucional NMI · 1 set.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309F91-F072-4ACD-81E6-8C8B37C9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3AE0A4-A40E-4FD2-BD2C-25C107F5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entender a topologia física e as VMs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DA2AA-3A28-467E-AF6C-4DE42E51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097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0B3E75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0B3E7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E31775-FB23-45CF-BA04-66AD2B10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384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diferenciar Kubernetes de Nephio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DE3829-EA3A-46F6-8B12-00A5790D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097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6B4BA3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6B4BA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096B4D-A513-4CA5-9B2E-72EF8B9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384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seguir UE → RAN → Core → Internet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2E9798-7367-41FC-AB2C-DF04FD7D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2286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82A4D"/>
          </a:solidFill>
          <a:ln xmlns:a="http://schemas.openxmlformats.org/drawingml/2006/main" w="11430">
            <a:solidFill>
              <a:srgbClr val="082A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Pergunta de controle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8EAFC5-A628-4953-96C4-00A39F8A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7429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82A4D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2A4D"/>
                </a:solidFill>
                <a:latin typeface="Arial"/>
                <a:ea typeface="Arial"/>
                <a:cs typeface="Arial"/>
              </a:rPr>
              <a:t>“Quando uma xApp entra no ar, quem preparou o pacote, quem aplicou o YAML e quem executou o contêiner?”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00F805-7482-416F-82B7-7031CB7F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3048000" cy="1466850"/>
          </a:xfrm>
          <a:prstGeom xmlns:a="http://schemas.openxmlformats.org/drawingml/2006/main" prst="roundRect">
            <a:avLst>
              <a:gd name="adj" fmla="val 6494"/>
            </a:avLst>
          </a:prstGeom>
          <a:solidFill xmlns:a="http://schemas.openxmlformats.org/drawingml/2006/main">
            <a:srgbClr val="E8F4ED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4C6332-8D3C-416F-9ECF-16FECA18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2910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RESPOSTA CURTA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174F44-FD55-4622-9334-87341998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524375"/>
            <a:ext cx="2705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Nephio prepara/publica a variante; Flux aplica; Kubernetes executa o pod.</a:t>
            </a:r>
          </a:p>
        </p:txBody>
      </p:sp>
    </p:spTree>
    <p:extLst>
      <p:ext uri="{BB962C8B-B14F-4D97-AF65-F5344CB8AC3E}">
        <p14:creationId xmlns:p14="http://schemas.microsoft.com/office/powerpoint/2010/main" val="13315825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71C4C9-66A9-4A07-991F-8F5AAE7B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GUIA DIDÁTICO · OPEN RAN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90ADD-2170-42E3-9939-CE3F8B92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Um laboratório, seis camadas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1C14B3-9E15-4F6E-8933-98B6ADCF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648AE-2B4E-45C9-B98B-9A756A8B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7A7F8-C5D3-44F7-9C18-66DD7766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PoC acadêmica · VPN institucional NMI · 1 set.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18B41A-DB55-47B8-AB2D-495E8AEF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E75"/>
          </a:solidFill>
          <a:ln xmlns:a="http://schemas.openxmlformats.org/drawingml/2006/main" w="1143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D1D06-8BB5-4B46-B606-A006825E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79070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143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3E7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3E75"/>
                </a:solidFill>
                <a:latin typeface="Arial"/>
                <a:ea typeface="Arial"/>
                <a:cs typeface="Arial"/>
              </a:rPr>
              <a:t>Infraestrutura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39C04A-88B5-4166-9FE1-2CA90693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38325"/>
            <a:ext cx="739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servidores, Proxmox, VMs, pfSense e redes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4C4D8F-C98C-4633-AC35-00B01A4D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11430">
            <a:solidFill>
              <a:srgbClr val="0E749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B8023D-4892-4597-A438-CEFC3CFE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1935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7F5F8"/>
          </a:solidFill>
          <a:ln xmlns:a="http://schemas.openxmlformats.org/drawingml/2006/main" w="11430">
            <a:solidFill>
              <a:srgbClr val="0E749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749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E7490"/>
                </a:solidFill>
                <a:latin typeface="Arial"/>
                <a:ea typeface="Arial"/>
                <a:cs typeface="Arial"/>
              </a:rPr>
              <a:t>Kubernetes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DB5D92-5043-4CB1-BD35-097294B3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66975"/>
            <a:ext cx="739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nós, namespaces, pods, Services e reconciliação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9CB9C1-8841-4243-B79E-6DEB68AB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4BA3"/>
          </a:solidFill>
          <a:ln xmlns:a="http://schemas.openxmlformats.org/drawingml/2006/main" w="11430">
            <a:solidFill>
              <a:srgbClr val="6B4B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51B545-36BC-4133-A581-AE3FDE7A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4800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0EBF8"/>
          </a:solidFill>
          <a:ln xmlns:a="http://schemas.openxmlformats.org/drawingml/2006/main" w="11430">
            <a:solidFill>
              <a:srgbClr val="6B4B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B4BA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B4BA3"/>
                </a:solidFill>
                <a:latin typeface="Arial"/>
                <a:ea typeface="Arial"/>
                <a:cs typeface="Arial"/>
              </a:rPr>
              <a:t>Telecom 5G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A6562F-96A4-464C-B925-54A4F309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95625"/>
            <a:ext cx="739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Open5GS, UE, RAN, interfaces N2/N3/F1/E2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696279-CFCF-4A49-8F1E-B5D4FA30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A00"/>
          </a:solidFill>
          <a:ln xmlns:a="http://schemas.openxmlformats.org/drawingml/2006/main" w="11430">
            <a:solidFill>
              <a:srgbClr val="A85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EE50DE-BB83-4D48-838A-CA5B6C95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7665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A85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85A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85A00"/>
                </a:solidFill>
                <a:latin typeface="Arial"/>
                <a:ea typeface="Arial"/>
                <a:cs typeface="Arial"/>
              </a:rPr>
              <a:t>RIC + xApps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D15DB2-1B15-4E26-A785-6863284F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24275"/>
            <a:ext cx="739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assinaturas E2, KPM, algoritmos e métricas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F73B1D-7D83-4154-B487-46B75E1D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C3A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810B72-CEAF-465F-AC23-31ABA89A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0530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F4ED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C3A"/>
                </a:solidFill>
                <a:latin typeface="Arial"/>
                <a:ea typeface="Arial"/>
                <a:cs typeface="Arial"/>
              </a:rPr>
              <a:t>Nephio + GitOps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E85E89-5B19-4FCA-8C1D-00C4CC6D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52925"/>
            <a:ext cx="739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blueprints, variantes, Porch, Gitea e Flux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B12A3E-863D-447B-A839-0F53EF0A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AA6"/>
          </a:solidFill>
          <a:ln xmlns:a="http://schemas.openxmlformats.org/drawingml/2006/main" w="11430">
            <a:solidFill>
              <a:srgbClr val="246AA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614A85-FBB2-4213-A29F-515E5778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3395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1430">
            <a:solidFill>
              <a:srgbClr val="246AA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6AA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6AA6"/>
                </a:solidFill>
                <a:latin typeface="Arial"/>
                <a:ea typeface="Arial"/>
                <a:cs typeface="Arial"/>
              </a:rPr>
              <a:t>Observabilidade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5F1D42-7B53-4F21-B130-B5B52C34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81575"/>
            <a:ext cx="739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Prometheus, Grafana, Loki, Alloy e Alertmanager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B1E614-44F5-46FF-82EB-ADFFD7B8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676900"/>
            <a:ext cx="75247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8F4ED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D62995-1816-4C39-9FF8-399EC605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53100"/>
            <a:ext cx="7258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REGRA MENTAL · As camadas cooperam, mas não são substitutas umas das outras.</a:t>
            </a:r>
          </a:p>
        </p:txBody>
      </p:sp>
    </p:spTree>
    <p:extLst>
      <p:ext uri="{BB962C8B-B14F-4D97-AF65-F5344CB8AC3E}">
        <p14:creationId xmlns:p14="http://schemas.microsoft.com/office/powerpoint/2010/main" val="53400820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7F6725-8777-4F2A-9654-0B00F33E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GUIA DIDÁTICO · OPEN RAN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F0117-C4F5-49DD-84D3-4444D875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Kubernetes executa; Nephio entrega intenção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CC0FB2-AE38-454B-BBD2-B11FC80F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DB4C2-C03A-40B1-AB47-05EC0EAD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1FF5F1-0568-415B-9943-724205AD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PoC acadêmica · VPN institucional NMI · 1 set.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3D6199-AE49-4258-B500-3EA4DBA3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857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B3E75"/>
          </a:solidFill>
          <a:ln xmlns:a="http://schemas.openxmlformats.org/drawingml/2006/main" w="1143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KUBERNETES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C1C46B-E2C0-4C9F-8919-DB600B2A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47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E75"/>
          </a:solidFill>
          <a:ln xmlns:a="http://schemas.openxmlformats.org/drawingml/2006/main" w="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4B9986-47F0-45AF-9853-22DF786B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81300"/>
            <a:ext cx="4038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agenda pods nos nós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AA592-E611-4F87-B5B3-20C3FA2A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0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E75"/>
          </a:solidFill>
          <a:ln xmlns:a="http://schemas.openxmlformats.org/drawingml/2006/main" w="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A11A6E-54EA-4808-965D-57AED363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33750"/>
            <a:ext cx="4038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mantém estado desejado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F3C907-83DE-41FD-92C6-9B07782A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52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E75"/>
          </a:solidFill>
          <a:ln xmlns:a="http://schemas.openxmlformats.org/drawingml/2006/main" w="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225B97-1746-45C8-A7D8-53398D69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86200"/>
            <a:ext cx="4038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oferece rede e descoberta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961E86-95E9-4536-9F4D-7BA18709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05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E75"/>
          </a:solidFill>
          <a:ln xmlns:a="http://schemas.openxmlformats.org/drawingml/2006/main" w="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216FF0-5D84-4869-8395-F7AE59E5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38650"/>
            <a:ext cx="4038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reinicia/substitui workloads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6100ED-3516-4C4F-8D1E-108EBB85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857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87C3A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NEPHIO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81EF1E-DC01-4978-836E-3E7C323B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47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C3A"/>
          </a:solidFill>
          <a:ln xmlns:a="http://schemas.openxmlformats.org/drawingml/2006/main" w="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B18392-9261-44F0-B8AE-F5C1D68B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81300"/>
            <a:ext cx="4038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organiza pacotes declarativos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0F6609-588C-4102-B535-552DFDA9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00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C3A"/>
          </a:solidFill>
          <a:ln xmlns:a="http://schemas.openxmlformats.org/drawingml/2006/main" w="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1BD412-1C49-45B3-BB5C-DC7D22A3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33750"/>
            <a:ext cx="4038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especializa variantes por site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C05FA2-3931-4B16-825C-66841D2A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52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C3A"/>
          </a:solidFill>
          <a:ln xmlns:a="http://schemas.openxmlformats.org/drawingml/2006/main" w="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E5CD24-CFF5-4725-A8F2-5773B92B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86200"/>
            <a:ext cx="4038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publica revisões no Git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92F493-E6CB-43B7-9E34-8EFD06B3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505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C3A"/>
          </a:solidFill>
          <a:ln xmlns:a="http://schemas.openxmlformats.org/drawingml/2006/main" w="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90B873-93C3-444D-A126-454A2C22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4038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automatiza a entrega GitOps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ABA54C-152F-4741-AA11-9A7CA095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371850"/>
            <a:ext cx="990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solidFill>
              <a:srgbClr val="C9D2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0192BB-43A6-4380-A22B-716E254D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19700"/>
            <a:ext cx="762000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A85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0A94A6-A1FE-48A6-B41F-3D38A23E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353050"/>
            <a:ext cx="727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A85A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A85A00"/>
                </a:solidFill>
                <a:latin typeface="Arial"/>
                <a:ea typeface="Arial"/>
                <a:cs typeface="Arial"/>
              </a:rPr>
              <a:t>NÃO É UMA ESCOLHA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32A3BD-E245-4EA9-BB63-D7DCE4B0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648325"/>
            <a:ext cx="727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Usamos Nephio sobre Kubernetes. Sem Kubernetes não há onde executar a xApp; sem Nephio ainda seria possível aplicar Helm/YAML manualmente.</a:t>
            </a:r>
          </a:p>
        </p:txBody>
      </p:sp>
    </p:spTree>
    <p:extLst>
      <p:ext uri="{BB962C8B-B14F-4D97-AF65-F5344CB8AC3E}">
        <p14:creationId xmlns:p14="http://schemas.microsoft.com/office/powerpoint/2010/main" val="604176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3A5470-86A8-4A92-A67F-001747BA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GUIA DIDÁTICO · OPEN RAN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E78FC-4C55-4E17-8761-C819696F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Do ferro ao pod: a hierarquia real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FA771D-B815-41B5-831B-BEFA13E4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13924-38E4-4198-930A-418F38F5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CB166-BF15-4297-AC88-156739E1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PoC acadêmica · VPN institucional NMI · 1 set.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274D1-ECEE-4A28-8737-F08CD45A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1905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143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3E7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3E75"/>
                </a:solidFill>
                <a:latin typeface="Arial"/>
                <a:ea typeface="Arial"/>
                <a:cs typeface="Arial"/>
              </a:rPr>
              <a:t>Servidor físico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96331-5CC4-473D-893E-58140E86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671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Dell / Ampere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57F602-65BD-4CEC-840C-C9692EAE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0035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solidFill>
              <a:srgbClr val="C9D2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600591-F394-454A-9F7F-7B1F579F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76500"/>
            <a:ext cx="1905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7F5F8"/>
          </a:solidFill>
          <a:ln xmlns:a="http://schemas.openxmlformats.org/drawingml/2006/main" w="11430">
            <a:solidFill>
              <a:srgbClr val="0E749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E749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E7490"/>
                </a:solidFill>
                <a:latin typeface="Arial"/>
                <a:ea typeface="Arial"/>
                <a:cs typeface="Arial"/>
              </a:rPr>
              <a:t>Hipervisor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33370B-37FA-45E5-90FC-F3E6BF72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671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Proxmox 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9F1E5C-BF03-4BF8-AF57-15EA631C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0035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solidFill>
              <a:srgbClr val="C9D2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1A159A-C43B-4906-92F2-F143B432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76500"/>
            <a:ext cx="1905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0EBF8"/>
          </a:solidFill>
          <a:ln xmlns:a="http://schemas.openxmlformats.org/drawingml/2006/main" w="11430">
            <a:solidFill>
              <a:srgbClr val="6B4B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B4BA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B4BA3"/>
                </a:solidFill>
                <a:latin typeface="Arial"/>
                <a:ea typeface="Arial"/>
                <a:cs typeface="Arial"/>
              </a:rPr>
              <a:t>Máquina virtual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97C73-2031-4A4E-915B-925E99DD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671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Debian / Ubuntu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EA87B0-2B60-4AF5-BA93-C79CCC92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0035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solidFill>
              <a:srgbClr val="C9D2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3E9FC9-7103-4E19-B0B3-B0FCD556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76500"/>
            <a:ext cx="1905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A85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85A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85A00"/>
                </a:solidFill>
                <a:latin typeface="Arial"/>
                <a:ea typeface="Arial"/>
                <a:cs typeface="Arial"/>
              </a:rPr>
              <a:t>Nó Kubernetes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8DBF32-6DA9-4532-8249-C4695CA2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671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control plane / worker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EBC631-25BA-4B6A-BD6B-9A6110D3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0035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solidFill>
              <a:srgbClr val="C9D2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4229E1-89C9-4AFF-8143-86D70294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0"/>
            <a:ext cx="1905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8F4ED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C3A"/>
                </a:solidFill>
                <a:latin typeface="Arial"/>
                <a:ea typeface="Arial"/>
                <a:cs typeface="Arial"/>
              </a:rPr>
              <a:t>Pod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BE5E73-4ECD-47AD-AF13-4934B505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671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um ou mais contêineres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4C94E7-B985-4B09-AF2E-B45B0285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72000"/>
            <a:ext cx="922020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143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7A5B95-4FE8-4D9C-8CC7-0CDDE987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05350"/>
            <a:ext cx="887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3E7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3E75"/>
                </a:solidFill>
                <a:latin typeface="Arial"/>
                <a:ea typeface="Arial"/>
                <a:cs typeface="Arial"/>
              </a:rPr>
              <a:t>EXEMPLO DO NMI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2CBE54-1E53-46DA-8827-54B19A55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000625"/>
            <a:ext cx="887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Proxmox002 hospeda a VM oran-k8s-01; essa VM é um nó; nela rodam pods do Open5GS, RAN e RIC base.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A3AB89-AF69-4556-96BA-A3045EDF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53100"/>
            <a:ext cx="941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82A4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82A4D"/>
                </a:solidFill>
                <a:latin typeface="Arial"/>
                <a:ea typeface="Arial"/>
                <a:cs typeface="Arial"/>
              </a:rPr>
              <a:t>Um cluster pode usar uma ou muitas VMs. O número de máquinas afeta capacidade e disponibilidade — não muda o modelo de comunicação entre pods.</a:t>
            </a:r>
          </a:p>
        </p:txBody>
      </p:sp>
    </p:spTree>
    <p:extLst>
      <p:ext uri="{BB962C8B-B14F-4D97-AF65-F5344CB8AC3E}">
        <p14:creationId xmlns:p14="http://schemas.microsoft.com/office/powerpoint/2010/main" val="7612606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B2B4FB-B088-45CA-94AD-DE02B706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GUIA DIDÁTICO · OPEN RAN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F611A-09F2-410C-A310-A0E74E30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Kubernetes em seis palavras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81C88-0F07-4834-995B-52BFF35E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685DF0-C5E8-41FC-A698-9DD59C11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9A1F9-8684-4A97-A777-C662C5F3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PoC acadêmica · VPN institucional NMI · 1 set.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9B128-AFCE-4AEE-9196-7499E936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33909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3E75"/>
          </a:solidFill>
          <a:ln xmlns:a="http://schemas.openxmlformats.org/drawingml/2006/main" w="1143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289AC-5915-44ED-8EAE-8B5F54E2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3390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143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conjunto administrado de nós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1974E-D102-4F5E-9B1E-46F38254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47850"/>
            <a:ext cx="33909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11430">
            <a:solidFill>
              <a:srgbClr val="0E749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B441B4-54CD-4C10-9672-6DA1B859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00300"/>
            <a:ext cx="3390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8"/>
          </a:solidFill>
          <a:ln xmlns:a="http://schemas.openxmlformats.org/drawingml/2006/main" w="11430">
            <a:solidFill>
              <a:srgbClr val="0E749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máquina que executa workloads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CD8F7F-317D-40EB-8C44-AABD3492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47850"/>
            <a:ext cx="33909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6B4BA3"/>
          </a:solidFill>
          <a:ln xmlns:a="http://schemas.openxmlformats.org/drawingml/2006/main" w="11430">
            <a:solidFill>
              <a:srgbClr val="6B4B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1D8D6A-43F3-4C53-A1E2-451C22CD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00300"/>
            <a:ext cx="3390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8"/>
          </a:solidFill>
          <a:ln xmlns:a="http://schemas.openxmlformats.org/drawingml/2006/main" w="11430">
            <a:solidFill>
              <a:srgbClr val="6B4B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menor unidade executável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4AD0B5-07FA-4FCA-B763-845B3747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33909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A85A00"/>
          </a:solidFill>
          <a:ln xmlns:a="http://schemas.openxmlformats.org/drawingml/2006/main" w="11430">
            <a:solidFill>
              <a:srgbClr val="A85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Deployment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87A611-51C9-4A06-9284-FF4B481A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52900"/>
            <a:ext cx="3390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A85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declara réplica e atualização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1DE691-BDE6-47FA-A077-848E9BA2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00450"/>
            <a:ext cx="33909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87C3A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B729A4-C7FA-4DE0-B2B1-2ADAAABE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52900"/>
            <a:ext cx="3390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D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endereço estável para pods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AB1A45-E37D-4032-8D26-CF4A8241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00450"/>
            <a:ext cx="33909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46AA6"/>
          </a:solidFill>
          <a:ln xmlns:a="http://schemas.openxmlformats.org/drawingml/2006/main" w="11430">
            <a:solidFill>
              <a:srgbClr val="246AA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Namespace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E2DC47-A7E3-4C62-9D1B-0B1886D0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52900"/>
            <a:ext cx="3390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1430">
            <a:solidFill>
              <a:srgbClr val="246AA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escopo lógico dentro do cluster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C2193C-37FB-4FD7-B061-C151A82E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86400"/>
            <a:ext cx="89535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8F4ED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0BF2C2-D4E6-4389-8CAA-D7DC0ED3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562600"/>
            <a:ext cx="8686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ESTADO DESEJADO · O YAML descreve o que deveria existir; controladores tentam fazer o estado real convergir para essa descrição.</a:t>
            </a:r>
          </a:p>
        </p:txBody>
      </p:sp>
    </p:spTree>
    <p:extLst>
      <p:ext uri="{BB962C8B-B14F-4D97-AF65-F5344CB8AC3E}">
        <p14:creationId xmlns:p14="http://schemas.microsoft.com/office/powerpoint/2010/main" val="12171002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CEC910-B20D-4B93-854F-488B6BDD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GUIA DIDÁTICO · OPEN RAN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E3ABE-2769-4A3C-BF0E-3BA4471D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Namespace não é outro cluster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C337E-A32A-4414-BC7C-2C968344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6237A-56EE-4473-9AAB-B9A0946E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2B0E7F-8A0D-42F2-A622-AD049D3E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PoC acadêmica · VPN institucional NMI · 1 set.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8A3D30-C0D4-4FBA-B62E-0674FC13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0858500" cy="3714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3E7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3E75"/>
                </a:solidFill>
                <a:latin typeface="Arial"/>
                <a:ea typeface="Arial"/>
                <a:cs typeface="Arial"/>
              </a:rPr>
              <a:t>CLUSTER NMI · 5 NÓS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9B8E56-1567-4B5D-9317-7A8619C1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30480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3E75"/>
          </a:solidFill>
          <a:ln xmlns:a="http://schemas.openxmlformats.org/drawingml/2006/main" w="1143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5g-core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0706C3-CDF7-40F8-B82A-64143ED9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304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Open5GS + MongoDB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1CFEC9-F10E-4098-A51F-6C909A12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57450"/>
            <a:ext cx="30480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6B4BA3"/>
          </a:solidFill>
          <a:ln xmlns:a="http://schemas.openxmlformats.org/drawingml/2006/main" w="11430">
            <a:solidFill>
              <a:srgbClr val="6B4B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23FD34-78E9-45BD-9B9A-4F584153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95600"/>
            <a:ext cx="304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B4B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CU / DU / 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7AE51D-7ADD-47D3-B8CE-A4CDEB56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57450"/>
            <a:ext cx="30480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A85A00"/>
          </a:solidFill>
          <a:ln xmlns:a="http://schemas.openxmlformats.org/drawingml/2006/main" w="11430">
            <a:solidFill>
              <a:srgbClr val="A85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near-rt-ric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979F49-F9E0-4130-9416-91ECCD28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04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85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plataforma RIC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B183B5-CF61-4FBA-A805-B1A202AC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71900"/>
            <a:ext cx="30480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87C3A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ricxapp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B3AA48-F782-42E0-B4B2-CA9FFFE2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304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simple-mon + load-watch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35A5A7-AFEA-4036-8A53-97107160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71900"/>
            <a:ext cx="30480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11430">
            <a:solidFill>
              <a:srgbClr val="0E749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monitoring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62B863-CD79-43DB-95B2-E1A64A75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10050"/>
            <a:ext cx="304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E749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Prometheus / Grafana / Loki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EE45A9-C60C-4807-98BF-044810B8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71900"/>
            <a:ext cx="30480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246AA6"/>
          </a:solidFill>
          <a:ln xmlns:a="http://schemas.openxmlformats.org/drawingml/2006/main" w="11430">
            <a:solidFill>
              <a:srgbClr val="246AA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nephio-*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936791-D8E3-4B82-ABDB-736F2358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10050"/>
            <a:ext cx="304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46AA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Porch / WebUI / controllers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81BEF7-B788-4CBF-BAC6-95794C9B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1025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82A4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82A4D"/>
                </a:solidFill>
                <a:latin typeface="Arial"/>
                <a:ea typeface="Arial"/>
                <a:cs typeface="Arial"/>
              </a:rPr>
              <a:t>Os namespaces dividem objetos e nomes dentro do mesmo cluster; os mesmos nós e a mesma API Kubernetes continuam por baixo.</a:t>
            </a:r>
          </a:p>
        </p:txBody>
      </p:sp>
    </p:spTree>
    <p:extLst>
      <p:ext uri="{BB962C8B-B14F-4D97-AF65-F5344CB8AC3E}">
        <p14:creationId xmlns:p14="http://schemas.microsoft.com/office/powerpoint/2010/main" val="2628594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A6A689-D250-4A7F-87B3-9F6C0968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GUIA DIDÁTICO · OPEN RAN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E0619-C26A-470D-8BCD-34BB291C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Open RAN separa funções e abre interfaces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B57CF4-DFAC-40BF-8188-74D269E7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48EB42-281B-4854-9DE5-5FEED2E9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C9288-AEE7-44A5-B82C-5A4DDE8D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PoC acadêmica · VPN institucional NMI · 1 set.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567717-FA3A-486D-AB65-C540A29E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1238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ED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C3A"/>
                </a:solidFill>
                <a:latin typeface="Arial"/>
                <a:ea typeface="Arial"/>
                <a:cs typeface="Arial"/>
              </a:rPr>
              <a:t>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9DCB3-7C98-4058-80C8-C4A91782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286125"/>
            <a:ext cx="495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solidFill>
              <a:srgbClr val="C9D2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265C96-9EDC-4BC8-A01A-DFBE4861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38450"/>
            <a:ext cx="142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0EBF8"/>
          </a:solidFill>
          <a:ln xmlns:a="http://schemas.openxmlformats.org/drawingml/2006/main" w="11430">
            <a:solidFill>
              <a:srgbClr val="6B4B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B4BA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B4BA3"/>
                </a:solidFill>
                <a:latin typeface="Arial"/>
                <a:ea typeface="Arial"/>
                <a:cs typeface="Arial"/>
              </a:rPr>
              <a:t>O-RU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3185DC-B0E9-4386-9248-C70E8541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86125"/>
            <a:ext cx="495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solidFill>
              <a:srgbClr val="C9D2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E06E0F-15DB-4677-8957-79739D56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38450"/>
            <a:ext cx="142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0EBF8"/>
          </a:solidFill>
          <a:ln xmlns:a="http://schemas.openxmlformats.org/drawingml/2006/main" w="11430">
            <a:solidFill>
              <a:srgbClr val="6B4B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B4BA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B4BA3"/>
                </a:solidFill>
                <a:latin typeface="Arial"/>
                <a:ea typeface="Arial"/>
                <a:cs typeface="Arial"/>
              </a:rPr>
              <a:t>O-DU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EC852-1C4A-4B2E-8009-CC33BF5F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86125"/>
            <a:ext cx="495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solidFill>
              <a:srgbClr val="C9D2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310046-8224-4629-A151-E5B6618D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38450"/>
            <a:ext cx="142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0EBF8"/>
          </a:solidFill>
          <a:ln xmlns:a="http://schemas.openxmlformats.org/drawingml/2006/main" w="11430">
            <a:solidFill>
              <a:srgbClr val="6B4B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B4BA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B4BA3"/>
                </a:solidFill>
                <a:latin typeface="Arial"/>
                <a:ea typeface="Arial"/>
                <a:cs typeface="Arial"/>
              </a:rPr>
              <a:t>O-CU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095AE4-D432-4618-8F42-A69BAD90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86125"/>
            <a:ext cx="495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solidFill>
              <a:srgbClr val="C9D2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1A8762-D87F-4E5E-B583-4EEC6F0F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3845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143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3E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3E75"/>
                </a:solidFill>
                <a:latin typeface="Arial"/>
                <a:ea typeface="Arial"/>
                <a:cs typeface="Arial"/>
              </a:rPr>
              <a:t>5G 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0541D1-C5D4-4084-83B5-331BC335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48200"/>
            <a:ext cx="3619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A85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85A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85A00"/>
                </a:solidFill>
                <a:latin typeface="Arial"/>
                <a:ea typeface="Arial"/>
                <a:cs typeface="Arial"/>
              </a:rPr>
              <a:t>Near-RT RIC + xApps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AD5ECD-D374-4929-913F-EE41CBDA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43350"/>
            <a:ext cx="171450" cy="628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85A00"/>
          </a:solidFill>
          <a:ln xmlns:a="http://schemas.openxmlformats.org/drawingml/2006/main" w="0">
            <a:solidFill>
              <a:srgbClr val="A85A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B5DF89-7A98-41B5-9D93-9C1A7B18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719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A85A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A85A00"/>
                </a:solidFill>
                <a:latin typeface="Arial"/>
                <a:ea typeface="Arial"/>
                <a:cs typeface="Arial"/>
              </a:rPr>
              <a:t>E2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A6AFED-60AC-4D08-8141-30232F85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695450"/>
            <a:ext cx="8001000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EBF8"/>
          </a:solidFill>
          <a:ln xmlns:a="http://schemas.openxmlformats.org/drawingml/2006/main" w="11430">
            <a:solidFill>
              <a:srgbClr val="6B4B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56ABD8-0D3D-4B86-B138-85262E70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828800"/>
            <a:ext cx="765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B4BA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B4BA3"/>
                </a:solidFill>
                <a:latin typeface="Arial"/>
                <a:ea typeface="Arial"/>
                <a:cs typeface="Arial"/>
              </a:rPr>
              <a:t>NO NOSSO LAB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328FE6-E690-4B3A-B4DB-6772CF03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124075"/>
            <a:ext cx="7658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A RF é simulada por ZMQ; DU/CU e UE são software; o Core é Open5GS; o Near-RT RIC recebe KPM real do O-DU.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0E6675-5CA0-4E30-9378-7230C64A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772150"/>
            <a:ext cx="910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Abrir interfaces permite trocar componentes, observar a RAN e desenvolver aplicações de otimização/monitoramento sem reescrever toda a rede.</a:t>
            </a:r>
          </a:p>
        </p:txBody>
      </p:sp>
    </p:spTree>
    <p:extLst>
      <p:ext uri="{BB962C8B-B14F-4D97-AF65-F5344CB8AC3E}">
        <p14:creationId xmlns:p14="http://schemas.microsoft.com/office/powerpoint/2010/main" val="87506557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AE930F-0A30-4D5A-88DE-D216C66A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GUIA DIDÁTICO · OPEN RAN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245FA-EAE7-46D8-BD5C-ED741F7F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Sopa de letrinhas · usuário e 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FEEB8-1910-4283-9100-119066CC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B2EB2-2845-4420-8715-3AF902A7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51770-CF89-4E5B-8759-DA932DAF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PoC acadêmica · VPN institucional NMI · 1 set.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BBAAB-9E9E-4B03-9B6E-29F2D72C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E7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Sigla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1C16C-9024-4440-8321-5D5DA6BF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847850"/>
            <a:ext cx="466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E7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 que 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91A35B-0D4B-4EA2-BE38-85061AD4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847850"/>
            <a:ext cx="466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E7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 laboratório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35BD5E-2D89-498B-9459-A2AEC2DE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60ADA-2D02-450D-9741-6D72DFD2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514600"/>
            <a:ext cx="466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equipamento do usuário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A05D4F-2631-4E38-998B-21A49040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14600"/>
            <a:ext cx="466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srsUE em software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B41329-77A3-4634-8F66-23D1E42B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SIM / IMSI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817C34-F390-4829-B2D2-6C4D9D33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181350"/>
            <a:ext cx="466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credencial e identidade do assinante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5F78DD-C765-445A-8D11-A2A236AA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81350"/>
            <a:ext cx="466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perfil cadastrado no Open5GS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693515-4EDD-4FBB-8DB2-2DBEA1F7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IMEI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57CED3-AE90-4B39-9B7F-5C9E1378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848100"/>
            <a:ext cx="466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identidade do aparelho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54466C-7AB8-4054-A83C-20C2ECA1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48100"/>
            <a:ext cx="466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não é a chave do assinante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547DFC-17EB-420A-92FF-7DB6DCF4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AMF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1B9483-C94C-4AF3-8AD3-1B2CF02D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514850"/>
            <a:ext cx="466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registro, mobilidade e NAS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BCBFDF-2FA6-4F44-ACD1-A514489B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14850"/>
            <a:ext cx="466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NF do Open5GS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28A5C8-A9E4-43BB-BF44-1FF974C5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SMF / UPF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23A738-3390-4626-A04D-4C4A1285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181600"/>
            <a:ext cx="466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sessão e tráfego de usuário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F2933C-5F1A-4590-975A-7F0C4BB3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181600"/>
            <a:ext cx="466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PDU + egress à Internet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4AB09E-C913-4BC5-93CE-8366C07B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24500"/>
            <a:ext cx="89535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A85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62FAFD-802F-4D39-A4F1-4FAED865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600700"/>
            <a:ext cx="868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A85A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A85A00"/>
                </a:solidFill>
                <a:latin typeface="Arial"/>
                <a:ea typeface="Arial"/>
                <a:cs typeface="Arial"/>
              </a:rPr>
              <a:t>IMPORTANTE · A xApp não cadastra SIM. O Open5GS autentica o assinante; a xApp observa dados da RAN via E2.</a:t>
            </a:r>
          </a:p>
        </p:txBody>
      </p:sp>
    </p:spTree>
    <p:extLst>
      <p:ext uri="{BB962C8B-B14F-4D97-AF65-F5344CB8AC3E}">
        <p14:creationId xmlns:p14="http://schemas.microsoft.com/office/powerpoint/2010/main" val="177945744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044530-0C99-4228-A921-AC443A86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GUIA DIDÁTICO · OPEN RAN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49A0D-C5A1-46CD-AF7B-AA16AE1E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Sopa de letrinhas · RAN, RIC e métricas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20E65-FE80-43BD-85B2-D448C08E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B3F05-E17C-4243-9AC1-B8C342BD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6E320-6B8C-43BF-BC2D-32000097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PoC acadêmica · VPN institucional NMI · 1 set.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EC826E-39BD-4D78-9336-8ED5B866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E7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Sigla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3E401F-8DF2-4ADC-A752-E146C122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52600"/>
            <a:ext cx="4714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E7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Ideia simples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C946B2-4ABB-4258-B70D-5BD7EB6A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752600"/>
            <a:ext cx="476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E7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Exemplo na PoC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7CC7DF-47CC-4F6D-A5A4-BE1AE37B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RU / DU / CU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649A9D-6CAB-486C-B98C-D5212294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324100"/>
            <a:ext cx="4714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rádio e funções distribuídas/centralizadas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B435C7-CAFB-4665-B0C3-411522EC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324100"/>
            <a:ext cx="476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RF ZMQ + OCUDU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6D723F-8E00-483F-AE51-40687D47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RIC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762DF5-6778-490A-AB34-1A652D39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895600"/>
            <a:ext cx="4714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controlador inteligente da RAN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5B43BE-651D-4A95-9D31-81E5A8BF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895600"/>
            <a:ext cx="476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O-RAN SC Near-RT RIC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F68133-066F-4ECE-ADEC-5D869DCD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6710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xApp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260EB0-7AFE-4E21-AD16-06323379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467100"/>
            <a:ext cx="4714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aplicação executada junto ao Near-RT RIC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DB69F5-058A-4474-945C-55248D63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467100"/>
            <a:ext cx="476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simple-mon / load-watch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22FD02-512F-44DF-A5D7-FFFE5E19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3860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E2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04EBC7-4FDA-4F90-A219-ED040C37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038600"/>
            <a:ext cx="4714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interface entre RAN e Near-RT RIC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C97ED2-9566-498C-AE54-8E0A3147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038600"/>
            <a:ext cx="476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SCTP + E2AP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5BA1E4-8C28-4130-BC12-FAAD8F18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010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KPM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D25272-33E8-4F2E-8FCA-61554C11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610100"/>
            <a:ext cx="4714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serviço que transporta medições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3DFED4-823E-405B-9AE8-1A0FB10E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610100"/>
            <a:ext cx="476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E2SM-KPM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ABDA2D-DA86-4825-A6EB-0EB2B35E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8160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KPI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43551C-94FE-4F5B-B2E8-2D261152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181600"/>
            <a:ext cx="4714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indicador de desempenho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56AD9A-4C03-4101-A2AC-1379CAF6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181600"/>
            <a:ext cx="476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DRB.UEThpDl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D4E390-3283-4075-BB8D-C4FD6C59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5310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RMR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4A3785-27DD-412D-BB6B-44EA864E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753100"/>
            <a:ext cx="4714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mensageria interna do RIC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8D8CDE-5372-4A5F-864D-9F407528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753100"/>
            <a:ext cx="476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indicação 12050 para a xApp</a:t>
            </a:r>
          </a:p>
        </p:txBody>
      </p:sp>
    </p:spTree>
    <p:extLst>
      <p:ext uri="{BB962C8B-B14F-4D97-AF65-F5344CB8AC3E}">
        <p14:creationId xmlns:p14="http://schemas.microsoft.com/office/powerpoint/2010/main" val="120929565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E7B6D7-6B87-41FE-AF3F-6FB2C782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GUIA DIDÁTICO · OPEN RAN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9B003-BC41-4CCB-AE4C-E77F8B90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Três fluxos coexistem — não misture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1C50D0-995B-49EC-A6A7-39400F0C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B5739-30AB-44F3-B9ED-F47A9A7A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CF6F25-3042-48CA-9A7C-73F0B792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PoC acadêmica · VPN institucional NMI · 1 set.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70E009-63B5-4136-8A76-615508BB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3143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6B4BA3"/>
          </a:solidFill>
          <a:ln xmlns:a="http://schemas.openxmlformats.org/drawingml/2006/main" w="11430">
            <a:solidFill>
              <a:srgbClr val="6B4B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· PLANO DE DADOS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EF815D-B576-4880-95BB-16B1AF90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6B4BA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6B4BA3"/>
                </a:solidFill>
                <a:latin typeface="Arial"/>
                <a:ea typeface="Arial"/>
                <a:cs typeface="Arial"/>
              </a:rPr>
              <a:t>UE → RAN → UPF → Internet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30ED9-8A6D-4E24-8C9F-9829AB36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carrega os bytes do usuário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A9CE3-5B47-4429-A333-70BF97BF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28800"/>
            <a:ext cx="3143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A85A00"/>
          </a:solidFill>
          <a:ln xmlns:a="http://schemas.openxmlformats.org/drawingml/2006/main" w="11430">
            <a:solidFill>
              <a:srgbClr val="A85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· TELEMETRIA E2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608074-E4DB-4645-9B3C-2B0F6C1C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146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A85A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A85A00"/>
                </a:solidFill>
                <a:latin typeface="Arial"/>
                <a:ea typeface="Arial"/>
                <a:cs typeface="Arial"/>
              </a:rPr>
              <a:t>O-DU → RIC → xApp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14BE1D-3DF3-4A79-AF7C-0161F594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62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transporta medições KPM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2BA115-6AFC-4A8D-AC20-5EDE2340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28800"/>
            <a:ext cx="3143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87C3A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· GESTÃO GITOPS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18FA94-ED38-479E-99C8-0090FB30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146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Git → Nephio → Flux → K8s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380B8A-4FF2-4A17-826A-FBBE7CCF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62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entrega configuração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F58646-8F29-426D-B5C1-6EFBB8A9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86200"/>
            <a:ext cx="765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2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0468A7-6A07-40D8-A07D-D71D8D2E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24350"/>
            <a:ext cx="3143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3E75"/>
          </a:solidFill>
          <a:ln xmlns:a="http://schemas.openxmlformats.org/drawingml/2006/main" w="1143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OBSERVABILIDADE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D35AA3-E694-4DFC-AD01-2EC56584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162550"/>
            <a:ext cx="6553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82A4D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82A4D"/>
                </a:solidFill>
                <a:latin typeface="Arial"/>
                <a:ea typeface="Arial"/>
                <a:cs typeface="Arial"/>
              </a:rPr>
              <a:t>Prometheus + Grafana + Loki reúnem evidências dos três fluxos.</a:t>
            </a:r>
          </a:p>
        </p:txBody>
      </p:sp>
    </p:spTree>
    <p:extLst>
      <p:ext uri="{BB962C8B-B14F-4D97-AF65-F5344CB8AC3E}">
        <p14:creationId xmlns:p14="http://schemas.microsoft.com/office/powerpoint/2010/main" val="73335579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01C864-6552-4FBF-B557-165625F3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GUIA DIDÁTICO · OPEN RAN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21236C-6425-4D4C-866D-AD8ED14D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Plano de dados: o caminho de um download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EEE14C-CF5A-4CE5-B6BB-B4F0470E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20215C-AF7A-433B-B204-F8F4AF96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D6619C-C071-415A-9EC6-632BCC13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PoC acadêmica · VPN institucional NMI · 1 set.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BBD55C-CBDE-4AF5-92AE-57CA799E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47950"/>
            <a:ext cx="1809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87C3A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srsUE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38D8A-85F5-4932-B5FA-41A47D47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D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tun_srsue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AF047C-5C4D-4FBC-AAF8-00E8E037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19450"/>
            <a:ext cx="4000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solidFill>
              <a:srgbClr val="C9D2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A4004-3E1F-4EE9-8603-52B92AFE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47950"/>
            <a:ext cx="1809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B4BA3"/>
          </a:solidFill>
          <a:ln xmlns:a="http://schemas.openxmlformats.org/drawingml/2006/main" w="11430">
            <a:solidFill>
              <a:srgbClr val="6B4B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ZMQ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AB07D9-DF15-4C23-BDB7-B2986B67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337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8"/>
          </a:solidFill>
          <a:ln xmlns:a="http://schemas.openxmlformats.org/drawingml/2006/main" w="11430">
            <a:solidFill>
              <a:srgbClr val="6B4B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rádio virtual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7CD930-0445-4CFB-9040-CF6747DB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19450"/>
            <a:ext cx="4000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solidFill>
              <a:srgbClr val="C9D2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C2ECBE-C789-4F7B-BE0B-25090C89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47950"/>
            <a:ext cx="1809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B4BA3"/>
          </a:solidFill>
          <a:ln xmlns:a="http://schemas.openxmlformats.org/drawingml/2006/main" w="11430">
            <a:solidFill>
              <a:srgbClr val="6B4B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O-DU / O-CU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901FB1-EAD6-4280-825A-61775737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337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8"/>
          </a:solidFill>
          <a:ln xmlns:a="http://schemas.openxmlformats.org/drawingml/2006/main" w="11430">
            <a:solidFill>
              <a:srgbClr val="6B4B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RAN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1CAEC8-9513-439C-B35E-57F9A775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19450"/>
            <a:ext cx="4000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solidFill>
              <a:srgbClr val="C9D2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BF12A9-E0D5-4040-B8AC-7A09E17F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47950"/>
            <a:ext cx="1809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3E75"/>
          </a:solidFill>
          <a:ln xmlns:a="http://schemas.openxmlformats.org/drawingml/2006/main" w="1143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Open5GS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C0EB38-584E-412A-81FD-C11375AA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337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143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AMF / SMF / UPF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D85F18-3DC1-489D-B66C-036BBA18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19450"/>
            <a:ext cx="4000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solidFill>
              <a:srgbClr val="C9D2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5DD445-1C4D-45AF-8C72-C0CE1DDE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47950"/>
            <a:ext cx="1809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11430">
            <a:solidFill>
              <a:srgbClr val="0E749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Internet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34DB7A-882A-4DD9-939F-B371C0CB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3337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8"/>
          </a:solidFill>
          <a:ln xmlns:a="http://schemas.openxmlformats.org/drawingml/2006/main" w="11430">
            <a:solidFill>
              <a:srgbClr val="0E749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HTTP 200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7EEDEC-7767-412C-A9CD-BD719A2C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29150"/>
            <a:ext cx="922020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E8F4ED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688CD2-2E39-4E71-AFF8-FCA7A2F1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62500"/>
            <a:ext cx="887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PROVA REALIZADA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2B347A-20D1-4B88-AEB6-6A6DCB05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057775"/>
            <a:ext cx="887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Os perfis UE registram, recebem uma sessão PDU e transferem 50 MB com egress pela interface tun_srsue.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4F19D4-ACA5-4B35-9AC7-BF06BEA4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810250"/>
            <a:ext cx="864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Esse tráfego estimula a RAN; em paralelo, o O-DU mede throughput e envia KPM ao RIC.</a:t>
            </a:r>
          </a:p>
        </p:txBody>
      </p:sp>
    </p:spTree>
    <p:extLst>
      <p:ext uri="{BB962C8B-B14F-4D97-AF65-F5344CB8AC3E}">
        <p14:creationId xmlns:p14="http://schemas.microsoft.com/office/powerpoint/2010/main" val="26667592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72A037-32EA-4647-8871-88E871F6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GUIA DIDÁTICO · OPEN RAN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41237-A371-4504-BEAA-FA4492AE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Telemetria: do O-DU ao painel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B81A2-14DB-4977-BE64-D6330F0A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FEDF9-1D40-42E1-9A66-5659D313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73C433-593C-4927-8E1A-9C320191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PoC acadêmica · VPN institucional NMI · 1 set.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11CDAC-7392-45DF-A445-E28D5FAF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1485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B4B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B4B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B4BA3"/>
                </a:solidFill>
                <a:latin typeface="Arial"/>
                <a:ea typeface="Arial"/>
                <a:cs typeface="Arial"/>
              </a:rPr>
              <a:t>O-DU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371F3-A29F-418B-B2BB-1DA96AEA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mede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33CD0-B0D5-4F12-8082-B0D74150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971800"/>
            <a:ext cx="342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solidFill>
              <a:srgbClr val="C9D2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CD1DF-03CE-43C7-AC61-7AC56A4C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667000"/>
            <a:ext cx="1485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85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85A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85A00"/>
                </a:solidFill>
                <a:latin typeface="Arial"/>
                <a:ea typeface="Arial"/>
                <a:cs typeface="Arial"/>
              </a:rPr>
              <a:t>E2Term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43CBF1-A744-4C81-BCED-EB74EED2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5242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termina E2AP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D563C8-F72A-413A-9934-840373E7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971800"/>
            <a:ext cx="342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solidFill>
              <a:srgbClr val="C9D2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D4A55C-4C0E-445D-B08B-177B08D9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67000"/>
            <a:ext cx="1485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85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85A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85A00"/>
                </a:solidFill>
                <a:latin typeface="Arial"/>
                <a:ea typeface="Arial"/>
                <a:cs typeface="Arial"/>
              </a:rPr>
              <a:t>SubMgr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BBBDC1-D631-4839-97E2-77446466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242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cria assinatura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BBADB2-7F04-4224-8E11-FE1CAB27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71800"/>
            <a:ext cx="342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solidFill>
              <a:srgbClr val="C9D2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415AD0-3FE9-40F6-B0DD-9A8469EE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667000"/>
            <a:ext cx="1485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85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85A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85A00"/>
                </a:solidFill>
                <a:latin typeface="Arial"/>
                <a:ea typeface="Arial"/>
                <a:cs typeface="Arial"/>
              </a:rPr>
              <a:t>RMR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935D03-C398-46D8-8A07-8F40E964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5242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roteia 12050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47C25C-E73F-487B-81F9-01DC3010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971800"/>
            <a:ext cx="342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solidFill>
              <a:srgbClr val="C9D2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5F4FAE-E50D-4D62-BD2D-A8FF45DE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67000"/>
            <a:ext cx="1485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F4ED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C3A"/>
                </a:solidFill>
                <a:latin typeface="Arial"/>
                <a:ea typeface="Arial"/>
                <a:cs typeface="Arial"/>
              </a:rPr>
              <a:t>xApp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A8EFF2-5C18-4C70-91A5-BFDD2975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242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decodifica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8BB07E-43A2-4134-9AD0-1BC07AA2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971800"/>
            <a:ext cx="342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solidFill>
              <a:srgbClr val="C9D2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9A2E50-0510-4D3E-B6A0-124E8EBF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667000"/>
            <a:ext cx="1485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3E7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3E75"/>
                </a:solidFill>
                <a:latin typeface="Arial"/>
                <a:ea typeface="Arial"/>
                <a:cs typeface="Arial"/>
              </a:rPr>
              <a:t>Grafana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7D4E6C-5D30-45CF-966C-42E4505A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5242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visualiza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08A41C-3456-4304-A352-FE20399B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288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A85A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A85A00"/>
                </a:solidFill>
                <a:latin typeface="Arial"/>
                <a:ea typeface="Arial"/>
                <a:cs typeface="Arial"/>
              </a:rPr>
              <a:t>DRB.UEThpDl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942DE0-5CB7-4760-AA8A-2E81912C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33900"/>
            <a:ext cx="883920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A85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B7B7D6-33F2-4B23-A68D-C6F9F834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667250"/>
            <a:ext cx="849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A85A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A85A00"/>
                </a:solidFill>
                <a:latin typeface="Arial"/>
                <a:ea typeface="Arial"/>
                <a:cs typeface="Arial"/>
              </a:rPr>
              <a:t>LEITURA CORRETA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6069C4-64C6-4DD9-9AFB-69B64AC1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962525"/>
            <a:ext cx="849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KPI é o número observado. KPM é o serviço/modelo que entrega medições. A xApp usa esse dado para calcular estado, tendência ou decisão.</a:t>
            </a:r>
          </a:p>
        </p:txBody>
      </p:sp>
    </p:spTree>
    <p:extLst>
      <p:ext uri="{BB962C8B-B14F-4D97-AF65-F5344CB8AC3E}">
        <p14:creationId xmlns:p14="http://schemas.microsoft.com/office/powerpoint/2010/main" val="137366244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E3B37B-9014-4462-86F8-34E84CFC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GUIA DIDÁTICO · OPEN RAN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3EB984-2DC0-4CE7-A9FB-BD6F3E6A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O que uma xApp faz neste laboratório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DAA873-C4A8-4D8E-B67A-033623CF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99C63-E018-40F7-AA57-D7AA8895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FF45D-D536-4419-B7C4-171C0B48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PoC acadêmica · VPN institucional NMI · 1 set.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D6B2CB-55BE-4249-94BC-DB726279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2857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A85A00"/>
          </a:solidFill>
          <a:ln xmlns:a="http://schemas.openxmlformats.org/drawingml/2006/main" w="11430">
            <a:solidFill>
              <a:srgbClr val="A85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ENTRADA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BAA80-C1AD-4CD3-BE5D-41F45A67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52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A00"/>
          </a:solidFill>
          <a:ln xmlns:a="http://schemas.openxmlformats.org/drawingml/2006/main" w="0">
            <a:solidFill>
              <a:srgbClr val="A85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7C0F9C-0E4E-4403-A0CC-365A9396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8605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indicação E2SM-KPM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E8B3E1-9191-46E3-8054-3C73C01C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A00"/>
          </a:solidFill>
          <a:ln xmlns:a="http://schemas.openxmlformats.org/drawingml/2006/main" w="0">
            <a:solidFill>
              <a:srgbClr val="A85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E80F42-B90A-44B3-9CF2-2142791D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0040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identidade do E2 node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5DA61C-51F3-45A9-8BD1-3FF69857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81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A00"/>
          </a:solidFill>
          <a:ln xmlns:a="http://schemas.openxmlformats.org/drawingml/2006/main" w="0">
            <a:solidFill>
              <a:srgbClr val="A85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9BE5BC-0C06-4B2B-833B-E1F4A31B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1475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DRB.UEThpDl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6C597B-B852-493D-B067-02D05465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95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A00"/>
          </a:solidFill>
          <a:ln xmlns:a="http://schemas.openxmlformats.org/drawingml/2006/main" w="0">
            <a:solidFill>
              <a:srgbClr val="A85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3ED161-18C4-4172-8407-FD322454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2910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timestamp + subscription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E9807D-DD69-4D28-AE90-1F69E28D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52800"/>
            <a:ext cx="876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solidFill>
              <a:srgbClr val="C9D2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1D6F62-DD3F-4264-8D04-DD910840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66900"/>
            <a:ext cx="2857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87C3A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ALGORITMO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031434-55D0-4D58-AB0F-DB5056AE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52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C3A"/>
          </a:solidFill>
          <a:ln xmlns:a="http://schemas.openxmlformats.org/drawingml/2006/main" w="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9106BF-46FF-4348-842F-8F492B61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8605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simple-mon: expõe KPI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9BCB1E-BBC5-43DA-87ED-F6846D74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67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C3A"/>
          </a:solidFill>
          <a:ln xmlns:a="http://schemas.openxmlformats.org/drawingml/2006/main" w="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00AEB5-A390-4788-90C6-3E401F5A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20040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load-watch: média móvel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D57D58-D75D-45F1-B0BE-9BAD4CDE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81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C3A"/>
          </a:solidFill>
          <a:ln xmlns:a="http://schemas.openxmlformats.org/drawingml/2006/main" w="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5F135F-DA07-4047-92E7-F20FBEBE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71475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idle / active / busy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12FAC0-BE21-4A05-B2FA-DC2DEE40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295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C3A"/>
          </a:solidFill>
          <a:ln xmlns:a="http://schemas.openxmlformats.org/drawingml/2006/main" w="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AFFFFF-EED8-41CC-A9F9-3CF16D55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22910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logs limitados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A4EF6D-B1C4-40B2-961E-F5DAD89F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52800"/>
            <a:ext cx="876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solidFill>
              <a:srgbClr val="C9D2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C33B5C-F517-4AC7-91CE-45D2AB9E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66900"/>
            <a:ext cx="2667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3E75"/>
          </a:solidFill>
          <a:ln xmlns:a="http://schemas.openxmlformats.org/drawingml/2006/main" w="1143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SAÍDA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0314F5-A5FC-4BC6-BBBB-79B53FBB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52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E75"/>
          </a:solidFill>
          <a:ln xmlns:a="http://schemas.openxmlformats.org/drawingml/2006/main" w="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7EC7F1-A011-4B26-9CDB-75764C83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860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/metrics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369115-B538-44C9-8696-7AE597B7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67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E75"/>
          </a:solidFill>
          <a:ln xmlns:a="http://schemas.openxmlformats.org/drawingml/2006/main" w="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CA1AAE-796A-4055-978B-8FDA31A1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0040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Prometheus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5AC402-E3BC-41D4-AE62-1A95D150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81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E75"/>
          </a:solidFill>
          <a:ln xmlns:a="http://schemas.openxmlformats.org/drawingml/2006/main" w="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8DAB24-99A5-4E24-9963-1E3695F5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147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Grafana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0A6936-AE9B-4549-836B-D3E104C5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95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E75"/>
          </a:solidFill>
          <a:ln xmlns:a="http://schemas.openxmlformats.org/drawingml/2006/main" w="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C25B80-821F-45AE-9112-1955D0A3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2910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evidência do teste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F4EB3A-8B62-4579-919A-81FE33E4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219700"/>
            <a:ext cx="86487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0EBF8"/>
          </a:solidFill>
          <a:ln xmlns:a="http://schemas.openxmlformats.org/drawingml/2006/main" w="11430">
            <a:solidFill>
              <a:srgbClr val="6B4B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3A2EF2-67F8-4A1D-82C4-A1145872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53050"/>
            <a:ext cx="830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B4BA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B4BA3"/>
                </a:solidFill>
                <a:latin typeface="Arial"/>
                <a:ea typeface="Arial"/>
                <a:cs typeface="Arial"/>
              </a:rPr>
              <a:t>HOJE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40C554-967B-486B-8FAD-E552065A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648325"/>
            <a:ext cx="830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As xApps são de monitoramento. Elas não enviam ações de controle à RAN; esse é um próximo tema de pesquisa com E2SM-RC e guardrails.</a:t>
            </a:r>
          </a:p>
        </p:txBody>
      </p:sp>
    </p:spTree>
    <p:extLst>
      <p:ext uri="{BB962C8B-B14F-4D97-AF65-F5344CB8AC3E}">
        <p14:creationId xmlns:p14="http://schemas.microsoft.com/office/powerpoint/2010/main" val="102685434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F165EE-4E19-405A-BEA9-2A4432BA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GUIA DIDÁTICO · OPEN RAN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BD402-A7DE-4E7F-AB97-9CE644A3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Nephio: catálogo, variantes e ciclo de vida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79D7D-22F5-419E-B568-85942160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BC2A1-C8E6-40DD-9A2A-B5AE2727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2AD141-42D6-4C0A-956C-4DAF0F22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PoC acadêmica · VPN institucional NMI · 1 set.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2FE1B9-84CB-434E-9CC7-59A0AD3B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381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8F4ED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C3A"/>
                </a:solidFill>
                <a:latin typeface="Arial"/>
                <a:ea typeface="Arial"/>
                <a:cs typeface="Arial"/>
              </a:rPr>
              <a:t>TEAM BLUEPRINT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1139AF-1F13-40FE-8322-B9DA23A9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modelo reutilizável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551CB5-1BF7-4912-9C44-16025BB0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57450"/>
            <a:ext cx="552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solidFill>
              <a:srgbClr val="C9D2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4F86B0-D4D1-4308-BBCF-C7213DB9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33600"/>
            <a:ext cx="2381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8F4ED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C3A"/>
                </a:solidFill>
                <a:latin typeface="Arial"/>
                <a:ea typeface="Arial"/>
                <a:cs typeface="Arial"/>
              </a:rPr>
              <a:t>PACKAGEVARIANT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DDF568-AB3E-4660-AC51-FE548A9B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105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intenção do site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9A7CA1-DD51-41C7-B558-F2396EF8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57450"/>
            <a:ext cx="552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solidFill>
              <a:srgbClr val="C9D2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AFE496-14E8-4CB8-9C7E-A855B68D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33600"/>
            <a:ext cx="1905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143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3E7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3E75"/>
                </a:solidFill>
                <a:latin typeface="Arial"/>
                <a:ea typeface="Arial"/>
                <a:cs typeface="Arial"/>
              </a:rPr>
              <a:t>PORCH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CB8B43-6C35-4688-9541-E67BF04C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051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orquestra pacote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73AAD1-0C99-4627-B547-91F9D69C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57450"/>
            <a:ext cx="552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solidFill>
              <a:srgbClr val="C9D2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3C4CF1-B195-4D8E-8FCC-D6426967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33600"/>
            <a:ext cx="1905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143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3E7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3E75"/>
                </a:solidFill>
                <a:latin typeface="Arial"/>
                <a:ea typeface="Arial"/>
                <a:cs typeface="Arial"/>
              </a:rPr>
              <a:t>GITEA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683F68-3D18-499A-B679-F86D3BB8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051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publica revisão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45CA07-AF75-44E7-BEAC-C0AF7923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095750"/>
            <a:ext cx="50673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82A4D"/>
          </a:solidFill>
          <a:ln xmlns:a="http://schemas.openxmlformats.org/drawingml/2006/main" w="11430">
            <a:solidFill>
              <a:srgbClr val="082A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WORKLOAD CLUSTERS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2CE2B8-60F5-46F3-BC20-D7A9500C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705350"/>
            <a:ext cx="2400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143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3E7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3E75"/>
                </a:solidFill>
                <a:latin typeface="Arial"/>
                <a:ea typeface="Arial"/>
                <a:cs typeface="Arial"/>
              </a:rPr>
              <a:t>NMI · amd64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2F41DE-0DED-410A-BF10-E35C34A9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05350"/>
            <a:ext cx="2400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8"/>
          </a:solidFill>
          <a:ln xmlns:a="http://schemas.openxmlformats.org/drawingml/2006/main" w="11430">
            <a:solidFill>
              <a:srgbClr val="6B4B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B4BA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B4BA3"/>
                </a:solidFill>
                <a:latin typeface="Arial"/>
                <a:ea typeface="Arial"/>
                <a:cs typeface="Arial"/>
              </a:rPr>
              <a:t>CIC · arm64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967B1D-D40E-40E6-9D7F-8C8E28F6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29000"/>
            <a:ext cx="171450" cy="5905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solidFill>
              <a:srgbClr val="C9D2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DD4665-EDFA-41A8-B009-E4506F01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00500"/>
            <a:ext cx="2324100" cy="140970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A85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72F06E-CAB8-48BC-976B-E875560E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1338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A85A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A85A00"/>
                </a:solidFill>
                <a:latin typeface="Arial"/>
                <a:ea typeface="Arial"/>
                <a:cs typeface="Arial"/>
              </a:rPr>
              <a:t>NA POC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E89272-BA8E-42F9-8301-88EAF4F1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29125"/>
            <a:ext cx="198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Nephio não cria Proxmox, VMs ou o cluster. Ele gerencia inicialmente pacotes de xApp e suas variantes.</a:t>
            </a:r>
          </a:p>
        </p:txBody>
      </p:sp>
    </p:spTree>
    <p:extLst>
      <p:ext uri="{BB962C8B-B14F-4D97-AF65-F5344CB8AC3E}">
        <p14:creationId xmlns:p14="http://schemas.microsoft.com/office/powerpoint/2010/main" val="167830196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E3487E-60B9-432E-A587-9A46C448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GUIA DIDÁTICO · OPEN RAN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4A6E00-4C8C-4CDD-BB2B-31822C9D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GitOps: configuração publicada vira execução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476372-6BC7-4DE0-AB02-DC688F18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21592-D9C8-4371-B4C2-A1ED1028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F96238-4AEF-4A03-824F-7341BA3C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PoC acadêmica · VPN institucional NMI · 1 set.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A18C30-9C71-4F5D-81A8-97B6084A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C3A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1FFB49-CBCB-4C47-B7A8-B1FD9E64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0861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Código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DDC600-DE35-4E02-8AB1-0D4D684E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4099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Python + testes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220C63-6222-469E-92A6-B945F5D3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1066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solidFill>
              <a:srgbClr val="C9D2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796387-34BD-49E9-AA46-B03D191B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476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C3A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423601-BA43-4B69-9229-D7F92769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0861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Imagem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ED84BB-15A7-463C-A0E2-732EF554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4099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amd64 + arm64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74DF07-59E3-4004-A718-37A6F4E1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90800"/>
            <a:ext cx="1066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solidFill>
              <a:srgbClr val="C9D2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569C7C-C7BC-441B-AC50-47E46619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76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C3A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452DE1-B9B8-4957-96E3-49FE0AF4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861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Blueprint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F1A852-EA30-4211-8620-C7504E72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099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pacote reutilizável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10D30B-1C36-4742-ABFE-FD009A65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90800"/>
            <a:ext cx="1066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solidFill>
              <a:srgbClr val="C9D2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1ED81B-FBD5-4835-B435-FB62473C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76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E75"/>
          </a:solidFill>
          <a:ln xmlns:a="http://schemas.openxmlformats.org/drawingml/2006/main" w="1143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09336C-CF4A-4A1F-81DB-03429B92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861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3E7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3E75"/>
                </a:solidFill>
                <a:latin typeface="Arial"/>
                <a:ea typeface="Arial"/>
                <a:cs typeface="Arial"/>
              </a:rPr>
              <a:t>Variante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0BB8E1-2611-4BB4-AE6A-AC8225BF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4099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NMI ou CIC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519B7C-8CA7-4D7F-A229-57F99792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90800"/>
            <a:ext cx="1066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solidFill>
              <a:srgbClr val="C9D2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F0A129-0021-4FCD-873B-1FABAB08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76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E75"/>
          </a:solidFill>
          <a:ln xmlns:a="http://schemas.openxmlformats.org/drawingml/2006/main" w="1143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29B945-0362-4E8F-80DA-FF83E64C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861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3E7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3E75"/>
                </a:solidFill>
                <a:latin typeface="Arial"/>
                <a:ea typeface="Arial"/>
                <a:cs typeface="Arial"/>
              </a:rPr>
              <a:t>Porch/Git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2B7AEC-AA62-4584-A408-BC082447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099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revisão publicada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1ECDAC-4DDF-430A-8716-EA46DAC2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90800"/>
            <a:ext cx="1066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solidFill>
              <a:srgbClr val="C9D2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266B9A-8D61-4F03-899D-9A27D484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76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E75"/>
          </a:solidFill>
          <a:ln xmlns:a="http://schemas.openxmlformats.org/drawingml/2006/main" w="1143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5C5805-5654-474F-BE92-C4C27FEB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861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3E7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3E75"/>
                </a:solidFill>
                <a:latin typeface="Arial"/>
                <a:ea typeface="Arial"/>
                <a:cs typeface="Arial"/>
              </a:rPr>
              <a:t>Flux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A40777-B9C1-465A-BDCE-722EA0B4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099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kubectl declarativo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322663-58B9-4A80-81B5-91B34DC5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90800"/>
            <a:ext cx="1066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solidFill>
              <a:srgbClr val="C9D2D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C9B8E4-6438-44A3-BBFC-912C658E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476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4BA3"/>
          </a:solidFill>
          <a:ln xmlns:a="http://schemas.openxmlformats.org/drawingml/2006/main" w="11430">
            <a:solidFill>
              <a:srgbClr val="6B4B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D0072E-2DF7-4680-94F4-2E6BB992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0861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6B4BA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B4BA3"/>
                </a:solidFill>
                <a:latin typeface="Arial"/>
                <a:ea typeface="Arial"/>
                <a:cs typeface="Arial"/>
              </a:rPr>
              <a:t>Kubernetes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5977B4-D4F9-4509-B1C9-BAB96749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4099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pod executando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724E31-B81A-40EE-B672-F6A94D56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95800"/>
            <a:ext cx="27241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F4ED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C3A"/>
                </a:solidFill>
                <a:latin typeface="Arial"/>
                <a:ea typeface="Arial"/>
                <a:cs typeface="Arial"/>
              </a:rPr>
              <a:t>Git registra o que mudou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42667D-88F5-4B81-BAFD-DD0DC7C0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495800"/>
            <a:ext cx="27241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143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3E7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3E75"/>
                </a:solidFill>
                <a:latin typeface="Arial"/>
                <a:ea typeface="Arial"/>
                <a:cs typeface="Arial"/>
              </a:rPr>
              <a:t>Flux detecta e reconcilia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EE64D4-616E-411E-BD2C-86D045F1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95800"/>
            <a:ext cx="27241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0EBF8"/>
          </a:solidFill>
          <a:ln xmlns:a="http://schemas.openxmlformats.org/drawingml/2006/main" w="11430">
            <a:solidFill>
              <a:srgbClr val="6B4B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B4BA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B4BA3"/>
                </a:solidFill>
                <a:latin typeface="Arial"/>
                <a:ea typeface="Arial"/>
                <a:cs typeface="Arial"/>
              </a:rPr>
              <a:t>Kubernetes mantém o estado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8AF2E3-610C-4E78-9C2F-66C43340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67350"/>
            <a:ext cx="64770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4ED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CB6178-C796-4329-92F9-93E3AA74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543550"/>
            <a:ext cx="621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ROLLBACK PARA FRENTE · Publicamos uma nova revisão que restaura a configuração desejada; o histórico permanece auditável.</a:t>
            </a:r>
          </a:p>
        </p:txBody>
      </p:sp>
    </p:spTree>
    <p:extLst>
      <p:ext uri="{BB962C8B-B14F-4D97-AF65-F5344CB8AC3E}">
        <p14:creationId xmlns:p14="http://schemas.microsoft.com/office/powerpoint/2010/main" val="26666606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21D126-F1A4-4B6F-9661-D62CAACE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GUIA DIDÁTICO · OPEN RAN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9CF18-0E7E-44CD-908A-6B4D049D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Não confunda as ferramentas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C64702-ED9C-4327-9444-00B811B3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52EF98-C0BE-4ACA-BCCB-40B792BA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F3CDC-90DC-4075-9C37-3FCA9483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PoC acadêmica · VPN institucional NMI · 1 set.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F5339-10EC-4E90-9C31-B8E809C1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2000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E7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Ferramenta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92E449-6ACE-4151-86F3-DD16A73E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752600"/>
            <a:ext cx="5429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E7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Pergunta que responde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C953D6-C51E-4A11-B855-EBB24FB3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52600"/>
            <a:ext cx="3667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E7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Papel nesta PoC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A68EEA-A943-48DB-95BC-8F2FA832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71725"/>
            <a:ext cx="2000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Proxmox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E1BF45-6D39-4937-8D37-D8EC4D79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371725"/>
            <a:ext cx="5429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onde criar as VMs?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E402AE-0636-42B8-8BCA-861AAD36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71725"/>
            <a:ext cx="3667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virtualização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C1EE92-20AF-4C12-9AAD-FCEB5995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2000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Kubernetes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E03BB2-1A54-44EB-89B9-56834E0C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90850"/>
            <a:ext cx="5429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onde e como executar os pods?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64A066-93B2-49F7-A07F-198349C6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90850"/>
            <a:ext cx="3667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runtime e reconciliação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6E83BB-F3DA-4838-8835-2D1C8B07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9975"/>
            <a:ext cx="2000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Helm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43472B-114D-4888-BF84-236B4D8C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609975"/>
            <a:ext cx="5429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como parametrizar um conjunto de YAML?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E3ECF6-8015-446E-AF91-1963987D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09975"/>
            <a:ext cx="3667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charts da pilha base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BF48E7-6C9C-4616-90AC-8B8A462A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29100"/>
            <a:ext cx="2000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Nephio/Porch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AF1335-BCF5-4908-B9C9-93F1695A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229100"/>
            <a:ext cx="5429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qual pacote/variante vai para cada site?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9352F6-807A-4CD7-A1D2-A481266B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29100"/>
            <a:ext cx="3667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gestão de pacotes xApp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7D7BC9-CF8F-4500-B95C-AB965284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48225"/>
            <a:ext cx="2000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Flux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71DB6F-3431-49A9-B306-B3888E1F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848225"/>
            <a:ext cx="5429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como aplicar o Git no cluster?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B5A01C-60A4-47D2-90C7-39DB9817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48225"/>
            <a:ext cx="3667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reconciliador GitOps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4AD9CA-8ED7-4B97-8D5C-D48797C1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67350"/>
            <a:ext cx="2000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Rancher/OpenShift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EAA9BA-F5D8-4FA7-AE55-AA176A73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467350"/>
            <a:ext cx="5429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como administrar/oferecer a plataforma K8s?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8E95CE-FCA1-447B-9A67-139D7728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467350"/>
            <a:ext cx="3667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não usados nesta PoC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ABF821-7CCF-4A89-BF16-D8E4EB54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91200"/>
            <a:ext cx="85725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143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19E07C-EDDB-49FA-9445-060CC9E7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867400"/>
            <a:ext cx="830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3E7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3E75"/>
                </a:solidFill>
                <a:latin typeface="Arial"/>
                <a:ea typeface="Arial"/>
                <a:cs typeface="Arial"/>
              </a:rPr>
              <a:t>ATALHO · Helm empacota templates; Nephio governa pacotes e variantes; Flux sincroniza Git; Kubernetes executa.</a:t>
            </a:r>
          </a:p>
        </p:txBody>
      </p:sp>
    </p:spTree>
    <p:extLst>
      <p:ext uri="{BB962C8B-B14F-4D97-AF65-F5344CB8AC3E}">
        <p14:creationId xmlns:p14="http://schemas.microsoft.com/office/powerpoint/2010/main" val="121062952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2F9800-1451-44D9-8074-F164D5B7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GUIA DIDÁTICO · OPEN RAN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1000CF-4C7E-4268-A603-9654AFEA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Topologia multi-site implantada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62A1C-9B51-4E9D-A3AA-53F8B8B4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F7EF8-91BC-4152-A02A-A804C653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235763-2840-43BC-946B-BA2D59B9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PoC acadêmica · VPN institucional NMI · 1 set.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3567A-2B87-4240-A725-AD0BE440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17145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4ED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C3A"/>
                </a:solidFill>
                <a:latin typeface="Arial"/>
                <a:ea typeface="Arial"/>
                <a:cs typeface="Arial"/>
              </a:rPr>
              <a:t>VPN NMI</a:t>
            </a:r>
          </a:p>
          <a:p xmlns:a="http://schemas.openxmlformats.org/drawingml/2006/main">
            <a:pPr algn="ctr">
              <a:defRPr sz="1425" b="1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C3A"/>
                </a:solidFill>
                <a:latin typeface="Arial"/>
                <a:ea typeface="Arial"/>
                <a:cs typeface="Arial"/>
              </a:rPr>
              <a:t>alunos / professores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30FE46-0B6B-4D7A-8562-1E547E0E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09800"/>
            <a:ext cx="514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C3A"/>
          </a:solidFill>
          <a:ln xmlns:a="http://schemas.openxmlformats.org/drawingml/2006/main" w="0">
            <a:solidFill>
              <a:srgbClr val="087C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4577AC-E79C-42F6-89AB-61962602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885950"/>
            <a:ext cx="21145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pfSense NMI 1/2</a:t>
            </a:r>
          </a:p>
          <a:p xmlns:a="http://schemas.openxmlformats.org/drawingml/2006/main">
            <a:pPr algn="ctr"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redes .71 e .72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87578B-B3CB-4900-8AF2-A64D3640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09800"/>
            <a:ext cx="514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solidFill>
              <a:srgbClr val="C9D2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08E19-5C79-49B0-9FE0-210BB55B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695450"/>
            <a:ext cx="5715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143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3E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3E75"/>
                </a:solidFill>
                <a:latin typeface="Arial"/>
                <a:ea typeface="Arial"/>
                <a:cs typeface="Arial"/>
              </a:rPr>
              <a:t>CLUSTER NMI · amd64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0BE04E-7138-40CA-B2D5-C7AFBCBE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43150"/>
            <a:ext cx="541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5 nós · telecom + Nephio + observabilidade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A19651-43B6-4178-8C6A-7002859D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05200"/>
            <a:ext cx="2381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3E7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3E75"/>
                </a:solidFill>
                <a:latin typeface="Arial"/>
                <a:ea typeface="Arial"/>
                <a:cs typeface="Arial"/>
              </a:rPr>
              <a:t>Proxmox001</a:t>
            </a:r>
          </a:p>
          <a:p xmlns:a="http://schemas.openxmlformats.org/drawingml/2006/main">
            <a:pPr algn="ctr">
              <a:defRPr sz="1575" b="1">
                <a:solidFill>
                  <a:srgbClr val="0B3E7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3E75"/>
                </a:solidFill>
                <a:latin typeface="Arial"/>
                <a:ea typeface="Arial"/>
                <a:cs typeface="Arial"/>
              </a:rPr>
              <a:t>VM 111 + VM 113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A64F15-DF0B-4BB1-B907-385B5D63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05200"/>
            <a:ext cx="2381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3E7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3E75"/>
                </a:solidFill>
                <a:latin typeface="Arial"/>
                <a:ea typeface="Arial"/>
                <a:cs typeface="Arial"/>
              </a:rPr>
              <a:t>Proxmox002</a:t>
            </a:r>
          </a:p>
          <a:p xmlns:a="http://schemas.openxmlformats.org/drawingml/2006/main">
            <a:pPr algn="ctr">
              <a:defRPr sz="1575" b="1">
                <a:solidFill>
                  <a:srgbClr val="0B3E7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3E75"/>
                </a:solidFill>
                <a:latin typeface="Arial"/>
                <a:ea typeface="Arial"/>
                <a:cs typeface="Arial"/>
              </a:rPr>
              <a:t>VM 105 + VM 112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DCA5ED-D08B-4F67-86EB-00B644EB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505200"/>
            <a:ext cx="2381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F4ED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C3A"/>
                </a:solidFill>
                <a:latin typeface="Arial"/>
                <a:ea typeface="Arial"/>
                <a:cs typeface="Arial"/>
              </a:rPr>
              <a:t>Dell físico</a:t>
            </a:r>
          </a:p>
          <a:p xmlns:a="http://schemas.openxmlformats.org/drawingml/2006/main">
            <a:pPr algn="ctr">
              <a:defRPr sz="1575" b="1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C3A"/>
                </a:solidFill>
                <a:latin typeface="Arial"/>
                <a:ea typeface="Arial"/>
                <a:cs typeface="Arial"/>
              </a:rPr>
              <a:t>nmi-srv03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9BF1F0-3422-40A3-AEF1-2BDDE173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05200"/>
            <a:ext cx="2381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0EBF8"/>
          </a:solidFill>
          <a:ln xmlns:a="http://schemas.openxmlformats.org/drawingml/2006/main" w="11430">
            <a:solidFill>
              <a:srgbClr val="6B4B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B4BA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B4BA3"/>
                </a:solidFill>
                <a:latin typeface="Arial"/>
                <a:ea typeface="Arial"/>
                <a:cs typeface="Arial"/>
              </a:rPr>
              <a:t>CIC · ARM64</a:t>
            </a:r>
          </a:p>
          <a:p xmlns:a="http://schemas.openxmlformats.org/drawingml/2006/main">
            <a:pPr algn="ctr">
              <a:defRPr sz="1575" b="1">
                <a:solidFill>
                  <a:srgbClr val="6B4BA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B4BA3"/>
                </a:solidFill>
                <a:latin typeface="Arial"/>
                <a:ea typeface="Arial"/>
                <a:cs typeface="Arial"/>
              </a:rPr>
              <a:t>Ampere 2 + Ampere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7A46AC-EA9D-4A35-A9DE-E8266B67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200400"/>
            <a:ext cx="902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B3E7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B4B1B2-DFE1-4F01-B0B1-A1053E0D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957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B4BA3"/>
            </a:solidFill>
            <a:prstDash val="dash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3062A2-7350-4132-AE99-C985DD58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19700"/>
            <a:ext cx="979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82A4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82A4D"/>
                </a:solidFill>
                <a:latin typeface="Arial"/>
                <a:ea typeface="Arial"/>
                <a:cs typeface="Arial"/>
              </a:rPr>
              <a:t>Flannel entre pods · Multus/OVS para N2/F1-C/E2 · rotas pfSense entre sites/redes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DBB06E-788F-4D9B-8EE5-C4BB3584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772150"/>
            <a:ext cx="82677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0EBF8"/>
          </a:solidFill>
          <a:ln xmlns:a="http://schemas.openxmlformats.org/drawingml/2006/main" w="11430">
            <a:solidFill>
              <a:srgbClr val="6B4B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5E0193-4393-4927-8295-6BD09E37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4835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B4BA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B4BA3"/>
                </a:solidFill>
                <a:latin typeface="Arial"/>
                <a:ea typeface="Arial"/>
                <a:cs typeface="Arial"/>
              </a:rPr>
              <a:t>DECISÃO · NMI concentra a pilha 5G e o management plane; CIC valida workloads arm64 sem duplicar todo o laboratório.</a:t>
            </a:r>
          </a:p>
        </p:txBody>
      </p:sp>
    </p:spTree>
    <p:extLst>
      <p:ext uri="{BB962C8B-B14F-4D97-AF65-F5344CB8AC3E}">
        <p14:creationId xmlns:p14="http://schemas.microsoft.com/office/powerpoint/2010/main" val="200970147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FC0E71-6E51-471E-A762-31AD16D4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GUIA DIDÁTICO · OPEN RAN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22CD77-C6E9-41C0-A5DD-A48D85D3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NMI: cinco nós, papéis visíveis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B91009-8896-4E1C-A74E-26B5FDB2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A3246E-6143-46E7-AEAF-1FF42F6B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B2AA4-FF51-4AE0-95C9-BA539D8E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PoC acadêmica · VPN institucional NMI · 1 set.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008968-C6D1-4EDD-9DCA-B03564F3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E7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1D6C2D-D0B3-49CE-BA6F-D7B010BC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752600"/>
            <a:ext cx="1952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E7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Sistema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EFDE2D-9F33-453E-B5B3-F230B250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752600"/>
            <a:ext cx="304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E7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Papel principal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CE94C2-60C8-485D-A543-9B7F89F9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752600"/>
            <a:ext cx="385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E7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Exemplos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DA18B7-803D-4750-803F-3C16E415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oran-k8s-01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02D11C-C785-40F9-8026-C5333366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38400"/>
            <a:ext cx="1952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Debian 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83FBA6-5C3B-446F-9CB7-607B93E2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438400"/>
            <a:ext cx="304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control plane + telecom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0427D4-FB1A-401A-BFBF-9BE78863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438400"/>
            <a:ext cx="385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Open5GS, RAN, RIC 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468BAE-90D9-4E39-8A68-0F577C43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24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oran-k8s-w01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203893-A8C6-41BB-9FCA-210891F9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24200"/>
            <a:ext cx="1952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Debian 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946AB8-7114-4326-A181-FE3FD8AA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24200"/>
            <a:ext cx="304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RIC distribuído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271B0B-FA69-49A3-A1B0-7591CE29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124200"/>
            <a:ext cx="385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E2Term, RTMgr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045A42-B99A-4E91-8DB0-C664D860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oran-k8s-w02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5585DF-ACD8-4668-9B9C-B09197E4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10000"/>
            <a:ext cx="1952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Debian 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9AB638-5FED-49B5-87E4-380E5B45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810000"/>
            <a:ext cx="304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xApps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E9A17A-F672-4D79-9921-A96B5642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810000"/>
            <a:ext cx="385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simple-mon, load-watch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91F354-E632-4612-9FA4-9A9BF8A2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nmi-srv03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14BD1E-9EC2-4799-82DF-A5CE468F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495800"/>
            <a:ext cx="1952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Ubuntu 24.04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3CF617-DE54-4D62-8D5D-784886C6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495800"/>
            <a:ext cx="304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observabilidade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7A3891-6F59-4A23-8D8A-84A257DE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495800"/>
            <a:ext cx="385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Prometheus, Grafana, Loki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8E707B-5E17-4B6E-A46D-292DE70D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81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nephio-k8s-w01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3045A1-60C0-474E-8319-C053EA05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1952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Ubuntu 22.04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C005D2-4543-4C65-9E7E-0BC1F848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5181600"/>
            <a:ext cx="304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gestão GitOps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7FE7C4-D6E4-4DD0-9104-8C23B839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181600"/>
            <a:ext cx="385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Porch, Gitea, Flux, WebUI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86080A-BABE-4153-AEFE-4F80728C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197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Todos Ready · Kubernetes v1.30.14 · amd64</a:t>
            </a:r>
          </a:p>
        </p:txBody>
      </p:sp>
    </p:spTree>
    <p:extLst>
      <p:ext uri="{BB962C8B-B14F-4D97-AF65-F5344CB8AC3E}">
        <p14:creationId xmlns:p14="http://schemas.microsoft.com/office/powerpoint/2010/main" val="77420649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C775D0-5410-4018-99EA-E9DD5EBC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GUIA DIDÁTICO · OPEN RAN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6C945-72A8-4DD1-895B-A729B30F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CIC: cluster ARM mínimo e útil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044A1E-616E-47E0-8081-311F5E2D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6D04B1-633E-470E-A78A-E56EB14B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75EEC3-E502-4E98-9237-1219234B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PoC acadêmica · VPN institucional NMI · 1 set.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796F89-E976-466E-918A-29D206A1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409575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0EBF8"/>
          </a:solidFill>
          <a:ln xmlns:a="http://schemas.openxmlformats.org/drawingml/2006/main" w="11430">
            <a:solidFill>
              <a:srgbClr val="6B4B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B4B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B4BA3"/>
                </a:solidFill>
                <a:latin typeface="Arial"/>
                <a:ea typeface="Arial"/>
                <a:cs typeface="Arial"/>
              </a:rPr>
              <a:t>Ampere 2</a:t>
            </a:r>
          </a:p>
          <a:p xmlns:a="http://schemas.openxmlformats.org/drawingml/2006/main">
            <a:pPr algn="ctr">
              <a:defRPr sz="1650" b="1">
                <a:solidFill>
                  <a:srgbClr val="6B4B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B4BA3"/>
                </a:solidFill>
                <a:latin typeface="Arial"/>
                <a:ea typeface="Arial"/>
                <a:cs typeface="Arial"/>
              </a:rPr>
              <a:t>VM 120 · cic-k8s-cp01</a:t>
            </a:r>
          </a:p>
          <a:p xmlns:a="http://schemas.openxmlformats.org/drawingml/2006/main">
            <a:pPr algn="ctr">
              <a:defRPr sz="1650" b="1">
                <a:solidFill>
                  <a:srgbClr val="6B4B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B4BA3"/>
                </a:solidFill>
                <a:latin typeface="Arial"/>
                <a:ea typeface="Arial"/>
                <a:cs typeface="Arial"/>
              </a:rPr>
              <a:t>8 vCPU · 16 GiB</a:t>
            </a:r>
          </a:p>
          <a:p xmlns:a="http://schemas.openxmlformats.org/drawingml/2006/main">
            <a:pPr algn="ctr">
              <a:defRPr sz="1650" b="1">
                <a:solidFill>
                  <a:srgbClr val="6B4B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B4BA3"/>
                </a:solidFill>
                <a:latin typeface="Arial"/>
                <a:ea typeface="Arial"/>
                <a:cs typeface="Arial"/>
              </a:rPr>
              <a:t>192.168.0.210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34EBA-6C34-4260-BA23-58A33315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43100"/>
            <a:ext cx="409575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0EBF8"/>
          </a:solidFill>
          <a:ln xmlns:a="http://schemas.openxmlformats.org/drawingml/2006/main" w="11430">
            <a:solidFill>
              <a:srgbClr val="6B4B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B4B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B4BA3"/>
                </a:solidFill>
                <a:latin typeface="Arial"/>
                <a:ea typeface="Arial"/>
                <a:cs typeface="Arial"/>
              </a:rPr>
              <a:t>Ampere 3</a:t>
            </a:r>
          </a:p>
          <a:p xmlns:a="http://schemas.openxmlformats.org/drawingml/2006/main">
            <a:pPr algn="ctr">
              <a:defRPr sz="1650" b="1">
                <a:solidFill>
                  <a:srgbClr val="6B4B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B4BA3"/>
                </a:solidFill>
                <a:latin typeface="Arial"/>
                <a:ea typeface="Arial"/>
                <a:cs typeface="Arial"/>
              </a:rPr>
              <a:t>VM 121 · cic-k8s-w01</a:t>
            </a:r>
          </a:p>
          <a:p xmlns:a="http://schemas.openxmlformats.org/drawingml/2006/main">
            <a:pPr algn="ctr">
              <a:defRPr sz="1650" b="1">
                <a:solidFill>
                  <a:srgbClr val="6B4B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B4BA3"/>
                </a:solidFill>
                <a:latin typeface="Arial"/>
                <a:ea typeface="Arial"/>
                <a:cs typeface="Arial"/>
              </a:rPr>
              <a:t>8 vCPU · 16 GiB</a:t>
            </a:r>
          </a:p>
          <a:p xmlns:a="http://schemas.openxmlformats.org/drawingml/2006/main">
            <a:pPr algn="ctr">
              <a:defRPr sz="1650" b="1">
                <a:solidFill>
                  <a:srgbClr val="6B4B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B4BA3"/>
                </a:solidFill>
                <a:latin typeface="Arial"/>
                <a:ea typeface="Arial"/>
                <a:cs typeface="Arial"/>
              </a:rPr>
              <a:t>192.168.0.211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1B90DC-5EC9-47A9-BE35-FF3077FE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09900"/>
            <a:ext cx="224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6B4BA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CDB562-2208-4BFF-9A3A-395B29F6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0985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6B4BA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B4BA3"/>
                </a:solidFill>
                <a:latin typeface="Arial"/>
                <a:ea typeface="Arial"/>
                <a:cs typeface="Arial"/>
              </a:rPr>
              <a:t>Flannel + Multus + OVS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3C0EBD-7109-4F09-924A-14FB912D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533900"/>
            <a:ext cx="38862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8F4ED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C3A"/>
                </a:solidFill>
                <a:latin typeface="Arial"/>
                <a:ea typeface="Arial"/>
                <a:cs typeface="Arial"/>
              </a:rPr>
              <a:t>r4-simple-mon-cic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26B44A-DB0B-4D76-B947-2EC955BE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34000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imagem multiarch executando nativamente como aarch64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81760E-D359-49CF-A3DD-9B016075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829300"/>
            <a:ext cx="826770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0EBF8"/>
          </a:solidFill>
          <a:ln xmlns:a="http://schemas.openxmlformats.org/drawingml/2006/main" w="11430">
            <a:solidFill>
              <a:srgbClr val="6B4B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CFE66A-458F-4A97-93ED-659C0FBA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905500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B4BA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B4BA3"/>
                </a:solidFill>
                <a:latin typeface="Arial"/>
                <a:ea typeface="Arial"/>
                <a:cs typeface="Arial"/>
              </a:rPr>
              <a:t>POR QUE OUTRO CLUSTER? · É outro site e outra arquitetura. O objetivo é provar portabilidade; o management plane continua no NMI.</a:t>
            </a:r>
          </a:p>
        </p:txBody>
      </p:sp>
    </p:spTree>
    <p:extLst>
      <p:ext uri="{BB962C8B-B14F-4D97-AF65-F5344CB8AC3E}">
        <p14:creationId xmlns:p14="http://schemas.microsoft.com/office/powerpoint/2010/main" val="104859591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FFBE3A-6B1B-42FC-B379-0D8A785B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GUIA DIDÁTICO · OPEN RAN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D3C25-969C-41C3-8FD0-A1831183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Duas redes para dois problemas diferentes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513B58-1B0B-4141-9709-F99A98B1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797C5-90C8-4A87-BC00-6379CF8B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EF823-615B-47E5-87FA-E132775F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PoC acadêmica · VPN institucional NMI · 1 set.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524871-0466-4F8C-AAED-E08FA7CC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B3E75"/>
          </a:solidFill>
          <a:ln xmlns:a="http://schemas.openxmlformats.org/drawingml/2006/main" w="1143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FLANNEL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8674D-55F9-476C-84FE-F1C2C17A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449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3E7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3E75"/>
                </a:solidFill>
                <a:latin typeface="Arial"/>
                <a:ea typeface="Arial"/>
                <a:cs typeface="Arial"/>
              </a:rPr>
              <a:t>rede padrão dos pods Kubernetes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F96466-A44D-4DF0-8127-9B67644D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57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E75"/>
          </a:solidFill>
          <a:ln xmlns:a="http://schemas.openxmlformats.org/drawingml/2006/main" w="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6D9B67-9A13-43BE-863C-CB0C5367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90900"/>
            <a:ext cx="3752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pod ↔ pod entre nós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0F4FF8-18B7-45DF-96AC-AC47BE24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10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E75"/>
          </a:solidFill>
          <a:ln xmlns:a="http://schemas.openxmlformats.org/drawingml/2006/main" w="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C86815-F83D-4727-96DC-4BCA0AC7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43350"/>
            <a:ext cx="3752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Service / DNS / kube-proxy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F9922A-9B0C-4295-B974-0F2C2920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62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E75"/>
          </a:solidFill>
          <a:ln xmlns:a="http://schemas.openxmlformats.org/drawingml/2006/main" w="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421B94-5D39-4F23-A9C9-2BA4D62E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95800"/>
            <a:ext cx="3752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overlay VXLAN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5AD976-7DBA-46F7-8710-A3B681CA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6690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6B4BA3"/>
          </a:solidFill>
          <a:ln xmlns:a="http://schemas.openxmlformats.org/drawingml/2006/main" w="11430">
            <a:solidFill>
              <a:srgbClr val="6B4B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MULTUS + OVS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8B9B5B-B58B-4F9E-ABCE-552C0D51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81300"/>
            <a:ext cx="449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6B4BA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6B4BA3"/>
                </a:solidFill>
                <a:latin typeface="Arial"/>
                <a:ea typeface="Arial"/>
                <a:cs typeface="Arial"/>
              </a:rPr>
              <a:t>interfaces adicionais de telecom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651C51-7827-41B7-A381-D2F56E79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57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4BA3"/>
          </a:solidFill>
          <a:ln xmlns:a="http://schemas.openxmlformats.org/drawingml/2006/main" w="0">
            <a:solidFill>
              <a:srgbClr val="6B4B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3DCF75-AC05-4E35-A5A7-FBC02E79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90900"/>
            <a:ext cx="3752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n2br · NGAP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F354F9-C10C-4030-BCB0-24340BAB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10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4BA3"/>
          </a:solidFill>
          <a:ln xmlns:a="http://schemas.openxmlformats.org/drawingml/2006/main" w="0">
            <a:solidFill>
              <a:srgbClr val="6B4B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596634-4E91-4F7F-B0BD-AA2A8638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43350"/>
            <a:ext cx="3752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f1cbr · F1-C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5CD1B2-3375-4B61-B7A3-BFFE70BF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62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4BA3"/>
          </a:solidFill>
          <a:ln xmlns:a="http://schemas.openxmlformats.org/drawingml/2006/main" w="0">
            <a:solidFill>
              <a:srgbClr val="6B4B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B86120-6425-4725-84DD-F55F6DE1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95800"/>
            <a:ext cx="3752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e2br · E2/SCTP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1C9F45-564A-4467-B0AF-4EF46028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67350"/>
            <a:ext cx="8001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A85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E3EC9D-A353-43C5-9362-296ADF08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54355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A85A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A85A00"/>
                </a:solidFill>
                <a:latin typeface="Arial"/>
                <a:ea typeface="Arial"/>
                <a:cs typeface="Arial"/>
              </a:rPr>
              <a:t>POR QUE NÃO BASTA UMA? · A rede do cluster mantém Kubernetes simples; as redes adicionais preservam endereços e protocolos específicos da pilha RAN/RIC.</a:t>
            </a:r>
          </a:p>
        </p:txBody>
      </p:sp>
    </p:spTree>
    <p:extLst>
      <p:ext uri="{BB962C8B-B14F-4D97-AF65-F5344CB8AC3E}">
        <p14:creationId xmlns:p14="http://schemas.microsoft.com/office/powerpoint/2010/main" val="98418465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8B9EE5-0439-40B5-910D-9D8B89C0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GUIA DIDÁTICO · OPEN RAN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8E502-D648-433D-8F90-54CAED8D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O repositório é o mapa do laboratório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3D4FB-B071-49F1-A8A0-DC077A98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96511-D54A-4B8F-AC47-93AEA2CF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DB1E6E-073F-4A9D-9CD1-8EBEFFF0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PoC acadêmica · VPN institucional NMI · 1 set.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177E2F-4BA8-4DED-9AF7-F6A4456F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2286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82A4D"/>
          </a:solidFill>
          <a:ln xmlns:a="http://schemas.openxmlformats.org/drawingml/2006/main" w="11430">
            <a:solidFill>
              <a:srgbClr val="082A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oran-stack/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9039E8-0952-46B3-A12C-CE28307B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266950"/>
            <a:ext cx="0" cy="3219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2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6A99E7-34BC-4BF2-8B16-327367F7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55270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2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134DAC-3DC3-4791-871F-BEE50526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43150"/>
            <a:ext cx="23622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3E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3E75"/>
                </a:solidFill>
                <a:latin typeface="Arial"/>
                <a:ea typeface="Arial"/>
                <a:cs typeface="Arial"/>
              </a:rPr>
              <a:t>ansible/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FAA21B-0390-4445-AEA8-F63C6412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812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provisiona hosts, cluster e rede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C4FDCF-D5E8-48C2-BCCA-A9B721B6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04800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2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37241A-1726-44F5-88CC-1FD42F7A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38450"/>
            <a:ext cx="23622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E749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749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7490"/>
                </a:solidFill>
                <a:latin typeface="Arial"/>
                <a:ea typeface="Arial"/>
                <a:cs typeface="Arial"/>
              </a:rPr>
              <a:t>helm/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18E730-1BE2-409E-BC2B-CF0C47E8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765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empacota Core, RIC, RAN, xApps e monitoring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CD5D6C-756E-4AD3-B3BD-F0D9D91F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4330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2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74726A-0389-4210-88ED-76C6A4F7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33750"/>
            <a:ext cx="23622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C3A"/>
                </a:solidFill>
                <a:latin typeface="Arial"/>
                <a:ea typeface="Arial"/>
                <a:cs typeface="Arial"/>
              </a:rPr>
              <a:t>xapps/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130652-E9F8-47D4-A473-D45AAF57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718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código Python e templates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5BD784-1892-4FC5-B7A4-660F19E4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3860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2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BE9F70-EE1E-4190-9448-CC0DCDA2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829050"/>
            <a:ext cx="23622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C3A"/>
                </a:solidFill>
                <a:latin typeface="Arial"/>
                <a:ea typeface="Arial"/>
                <a:cs typeface="Arial"/>
              </a:rPr>
              <a:t>packages/nephio/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AEACB1-3800-4467-8F1E-17EFE031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671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Team Blueprints KRM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7F1520-062C-4BBF-A6EA-06763850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53390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2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963B51-2CEE-480B-ADC9-ACE5AE84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324350"/>
            <a:ext cx="23622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B4B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B4B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B4BA3"/>
                </a:solidFill>
                <a:latin typeface="Arial"/>
                <a:ea typeface="Arial"/>
                <a:cs typeface="Arial"/>
              </a:rPr>
              <a:t>infra/nephio/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75840E-994D-4D07-9218-1C477469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3624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Porch, variantes, onboarding e WebUI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8791DB-DEB4-4B9A-8DB0-D0CCEC47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02920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2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49AEEF-E21E-4377-8BC8-EF53FA3E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819650"/>
            <a:ext cx="23622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85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85A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85A00"/>
                </a:solidFill>
                <a:latin typeface="Arial"/>
                <a:ea typeface="Arial"/>
                <a:cs typeface="Arial"/>
              </a:rPr>
              <a:t>scripts/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D0F455-B561-4CA3-B80A-7C68C723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8577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demos, geração e verificação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CDBE95-1E89-4104-9A04-32259688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2450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2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36EEC9-1BB8-497D-A476-C88729CE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314950"/>
            <a:ext cx="23622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46AA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6AA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6AA6"/>
                </a:solidFill>
                <a:latin typeface="Arial"/>
                <a:ea typeface="Arial"/>
                <a:cs typeface="Arial"/>
              </a:rPr>
              <a:t>docs/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15A25B-D852-40C8-A304-BDD6EE7E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3530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arquitetura, status e tutoriais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54CDC1-73D9-4799-A2D3-DE0A1B63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962650"/>
            <a:ext cx="84010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E8F4ED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1DAE7E-B7A5-4E04-A49E-40A92DC4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038850"/>
            <a:ext cx="813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ONDE O ALUNO COMEÇA · xapps/templates/kpm-monitor + scripts/new-kpm-xapp.sh; a infraestrutura revisa imagem, pacote, RBAC e variante.</a:t>
            </a:r>
          </a:p>
        </p:txBody>
      </p:sp>
    </p:spTree>
    <p:extLst>
      <p:ext uri="{BB962C8B-B14F-4D97-AF65-F5344CB8AC3E}">
        <p14:creationId xmlns:p14="http://schemas.microsoft.com/office/powerpoint/2010/main" val="1703057858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216670-B9EB-4246-8B14-67A7E8D9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GUIA DIDÁTICO · OPEN RAN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40989-4B42-4A3F-A225-5C76514E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O que construímos nesta semana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C1A52-331E-457D-8A5D-94861A21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8D309-B355-49CC-9285-3EE38C59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786E8-2A2F-45D0-BE1E-0D11A8FD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PoC acadêmica · VPN institucional NMI · 1 set.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30A38-24CE-434E-B05D-D817C0A9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9D2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5F4411-163E-451E-8177-D9A73B5C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E75"/>
          </a:solidFill>
          <a:ln xmlns:a="http://schemas.openxmlformats.org/drawingml/2006/main" w="1143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CBC611-3F55-4080-9515-2A57E328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3E7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3E75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B896A-8A18-4080-83B5-F68E8A89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UE + Open5GS + RAN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533B27-B198-4393-88E6-4FDB8B81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1465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3E7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23E750-2660-453A-B82A-D45E870D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24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A00"/>
          </a:solidFill>
          <a:ln xmlns:a="http://schemas.openxmlformats.org/drawingml/2006/main" w="11430">
            <a:solidFill>
              <a:srgbClr val="A85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5E3340-19AE-477F-8450-84967BF6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943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A85A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A85A00"/>
                </a:solidFill>
                <a:latin typeface="Arial"/>
                <a:ea typeface="Arial"/>
                <a:cs typeface="Arial"/>
              </a:rPr>
              <a:t>RIC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194489-B6B0-483C-9BD8-13CFA448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26720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E2 + KPM + simple-mon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CADA31-4C72-4345-8B45-06B692C3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1950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5A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3E1443-D58F-4094-877A-32E8AEF2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124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11430">
            <a:solidFill>
              <a:srgbClr val="0E749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713702-32B7-4622-A99E-D26A1114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479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E749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E7490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7DAE14-3241-4CAC-8FFC-DF24E825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7175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workers nos 2 Proxmox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3D8488-9C1C-4301-A580-1F05956D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1465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749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4CB791-96D5-41CF-B16C-B510A50B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24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C3A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C6CEA6-1D61-4112-B2AC-A11128CA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943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Observabilidade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8DFC66-66DE-4C1B-9EDB-CB103582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26720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Grafana + Loki + alertas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F65C37-0582-4DA8-906F-D875C7F5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61950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C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374DCC-16C6-4EDD-A6FD-66A2B750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24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4BA3"/>
          </a:solidFill>
          <a:ln xmlns:a="http://schemas.openxmlformats.org/drawingml/2006/main" w="11430">
            <a:solidFill>
              <a:srgbClr val="6B4B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6A305C-8D3C-4009-A9DA-83ED0673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479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6B4BA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B4BA3"/>
                </a:solidFill>
                <a:latin typeface="Arial"/>
                <a:ea typeface="Arial"/>
                <a:cs typeface="Arial"/>
              </a:rPr>
              <a:t>Nephio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5A72F4-C32B-43F6-AF96-0C60C551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Porch + Flux + rollback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99227F-89A4-4D23-A49A-5A5CCD9D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1465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B4BA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93A0F4-D452-4575-A112-F0D47029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24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4BA3"/>
          </a:solidFill>
          <a:ln xmlns:a="http://schemas.openxmlformats.org/drawingml/2006/main" w="11430">
            <a:solidFill>
              <a:srgbClr val="6B4B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F53C36-47AA-433B-B085-115733AB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43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6B4BA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B4BA3"/>
                </a:solidFill>
                <a:latin typeface="Arial"/>
                <a:ea typeface="Arial"/>
                <a:cs typeface="Arial"/>
              </a:rPr>
              <a:t>ARM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4257F2-4CE5-4388-9F78-FA254DDE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6720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variante CIC aarch64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ADB413-151F-444D-B476-C7EFE388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1950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B4BA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AAF261-AB1A-440C-8C3D-E1C065BE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24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C3A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75D43E-4F22-43E8-AF4C-5FA49E95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2479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Didática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DD443C-8F3D-4F98-9A0E-646F4B8B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7175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load-watch + 3 perfis UE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36422A-8146-4F87-892B-118BDE34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91465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C3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CF606C-31F0-4FA1-8A4A-B19903BC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10200"/>
            <a:ext cx="83820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8F4ED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6970B2-FAB7-48F0-A5BD-712BB303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486400"/>
            <a:ext cx="811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RESULTADO · O laboratório deixou de ser uma pilha monolítica em uma VM e virou uma plataforma multi-host, multi-site e reproduzível.</a:t>
            </a:r>
          </a:p>
        </p:txBody>
      </p:sp>
    </p:spTree>
    <p:extLst>
      <p:ext uri="{BB962C8B-B14F-4D97-AF65-F5344CB8AC3E}">
        <p14:creationId xmlns:p14="http://schemas.microsoft.com/office/powerpoint/2010/main" val="1693274998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619865-7E57-456F-8349-05BE2528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GUIA DIDÁTICO · OPEN RAN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C27A0F-73B6-4F7D-87FA-105612C2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As provas funcionais estão encadeadas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49A745-B9DB-4A71-838E-C5B61853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6BF2AF-DC1A-48AE-818E-D7355874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CD5EDD-CF67-44F4-B204-352E9DBF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PoC acadêmica · VPN institucional NMI · 1 set.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62A543-80FA-44C0-B7B5-B8930FC2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228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5/5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916C59-FCB5-43E8-88DA-F545C573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nós Ready no NMI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C49BA0-78EE-4296-A8FD-595B4CB4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790700"/>
            <a:ext cx="228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6B4BA3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6B4BA3"/>
                </a:solidFill>
                <a:latin typeface="Arial"/>
                <a:ea typeface="Arial"/>
                <a:cs typeface="Arial"/>
              </a:rPr>
              <a:t>2/2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8F589-E2E1-416F-817C-85DA2639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193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nós ARM64 no CIC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002A66-415C-43FA-9E19-8BC1F965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90700"/>
            <a:ext cx="228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0B3E75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0B3E7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445761-937E-42D4-BA2F-FE887260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193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PackageVariants ativos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611A1D-B3D9-4BD5-9E4F-9402E4B3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90700"/>
            <a:ext cx="228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A85A00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A85A00"/>
                </a:solidFill>
                <a:latin typeface="Arial"/>
                <a:ea typeface="Arial"/>
                <a:cs typeface="Arial"/>
              </a:rPr>
              <a:t>28,8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DDE1C7-F433-411E-966F-8A6DF00B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193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Mbit/s de pico KPM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53453D-C89D-48EA-BE0D-AD7785A0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8859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8F4ED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C3A"/>
                </a:solidFill>
                <a:latin typeface="Arial"/>
                <a:ea typeface="Arial"/>
                <a:cs typeface="Arial"/>
              </a:rPr>
              <a:t>UE registra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D8451F-419D-44F4-A5FD-0B388232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210050"/>
            <a:ext cx="457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solidFill>
              <a:srgbClr val="C9D2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341994-ED14-4ACD-8FB8-9C98F653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00500"/>
            <a:ext cx="18859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0EBF8"/>
          </a:solidFill>
          <a:ln xmlns:a="http://schemas.openxmlformats.org/drawingml/2006/main" w="11430">
            <a:solidFill>
              <a:srgbClr val="6B4B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B4BA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B4BA3"/>
                </a:solidFill>
                <a:latin typeface="Arial"/>
                <a:ea typeface="Arial"/>
                <a:cs typeface="Arial"/>
              </a:rPr>
              <a:t>tráfego 50 MB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477EA2-74BA-432D-813B-B154B5AC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210050"/>
            <a:ext cx="457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solidFill>
              <a:srgbClr val="C9D2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ECDB92-6901-46B0-A746-D3650772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00500"/>
            <a:ext cx="18859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A85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85A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85A00"/>
                </a:solidFill>
                <a:latin typeface="Arial"/>
                <a:ea typeface="Arial"/>
                <a:cs typeface="Arial"/>
              </a:rPr>
              <a:t>KPM no RIC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D6F2F7-FAF3-4E82-B74D-CC6C1CC7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10050"/>
            <a:ext cx="457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solidFill>
              <a:srgbClr val="C9D2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C6F21F-3335-4953-9785-1123AB92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00500"/>
            <a:ext cx="18859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8F4ED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C3A"/>
                </a:solidFill>
                <a:latin typeface="Arial"/>
                <a:ea typeface="Arial"/>
                <a:cs typeface="Arial"/>
              </a:rPr>
              <a:t>xApp calcula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31874F-77BD-420F-9881-A9FD16EC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10050"/>
            <a:ext cx="457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solidFill>
              <a:srgbClr val="C9D2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B44679-7A17-4CF7-B3C8-8C386AEA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000500"/>
            <a:ext cx="914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143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3E7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3E75"/>
                </a:solidFill>
                <a:latin typeface="Arial"/>
                <a:ea typeface="Arial"/>
                <a:cs typeface="Arial"/>
              </a:rPr>
              <a:t>Grafana mostra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70E26E-BE35-40EB-BB8D-5360D83F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62550"/>
            <a:ext cx="80010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A85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9A3F34-5B22-41D3-8183-318CB373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295900"/>
            <a:ext cx="765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A85A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A85A00"/>
                </a:solidFill>
                <a:latin typeface="Arial"/>
                <a:ea typeface="Arial"/>
                <a:cs typeface="Arial"/>
              </a:rPr>
              <a:t>LOAD-WATCH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07478C-B1D5-4A2A-BD03-0D25A629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591175"/>
            <a:ext cx="765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Média móvel de 5 amostras; ciclo idle → active → busy → active → idle; pico observado de 28.841 kbps.</a:t>
            </a:r>
          </a:p>
        </p:txBody>
      </p:sp>
    </p:spTree>
    <p:extLst>
      <p:ext uri="{BB962C8B-B14F-4D97-AF65-F5344CB8AC3E}">
        <p14:creationId xmlns:p14="http://schemas.microsoft.com/office/powerpoint/2010/main" val="181849032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54AE3C-67C0-48DC-A604-AFFE58FA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GUIA DIDÁTICO · OPEN RAN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E616B5-9B0F-4577-8B9C-0CBE5A3D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A mesma xApp atravessou arquitetura e site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DC2A8-619A-4229-AC23-0060C472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3AFA35-E8DF-4790-BCF2-D8672C2B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56E9EE-BA41-457C-9149-C479AB57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PoC acadêmica · VPN institucional NMI · 1 set.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DDBAF-2E05-4AFA-9A5E-B1720927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71650"/>
            <a:ext cx="3771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82A4D"/>
          </a:solidFill>
          <a:ln xmlns:a="http://schemas.openxmlformats.org/drawingml/2006/main" w="11430">
            <a:solidFill>
              <a:srgbClr val="082A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IMAGEM MULTIARCH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sha256 fixado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96992-F464-4A6A-B446-80BBCB33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71750"/>
            <a:ext cx="171450" cy="5905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solidFill>
              <a:srgbClr val="C9D2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27C6B-E723-40C5-9A2A-1A6416D2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90900"/>
            <a:ext cx="3524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B3E75"/>
          </a:solidFill>
          <a:ln xmlns:a="http://schemas.openxmlformats.org/drawingml/2006/main" w="1143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VARIANTE NMI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39F987-1A0A-4953-A984-5698641A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90900"/>
            <a:ext cx="3524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6B4BA3"/>
          </a:solidFill>
          <a:ln xmlns:a="http://schemas.openxmlformats.org/drawingml/2006/main" w="11430">
            <a:solidFill>
              <a:srgbClr val="6B4B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VARIANTE CIC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001E5B-C339-4787-98AA-669896E2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81450"/>
            <a:ext cx="3524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143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3E7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3E75"/>
                </a:solidFill>
                <a:latin typeface="Arial"/>
                <a:ea typeface="Arial"/>
                <a:cs typeface="Arial"/>
              </a:rPr>
              <a:t>amd64</a:t>
            </a:r>
          </a:p>
          <a:p xmlns:a="http://schemas.openxmlformats.org/drawingml/2006/main">
            <a:pPr algn="ctr">
              <a:defRPr sz="1650" b="1">
                <a:solidFill>
                  <a:srgbClr val="0B3E7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3E75"/>
                </a:solidFill>
                <a:latin typeface="Arial"/>
                <a:ea typeface="Arial"/>
                <a:cs typeface="Arial"/>
              </a:rPr>
              <a:t>simple-mon</a:t>
            </a:r>
          </a:p>
          <a:p xmlns:a="http://schemas.openxmlformats.org/drawingml/2006/main">
            <a:pPr algn="ctr">
              <a:defRPr sz="1650" b="1">
                <a:solidFill>
                  <a:srgbClr val="0B3E7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3E75"/>
                </a:solidFill>
                <a:latin typeface="Arial"/>
                <a:ea typeface="Arial"/>
                <a:cs typeface="Arial"/>
              </a:rPr>
              <a:t>KPM local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BFC414-3552-44AE-A4FD-876E9661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81450"/>
            <a:ext cx="3524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8"/>
          </a:solidFill>
          <a:ln xmlns:a="http://schemas.openxmlformats.org/drawingml/2006/main" w="11430">
            <a:solidFill>
              <a:srgbClr val="6B4B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B4B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B4BA3"/>
                </a:solidFill>
                <a:latin typeface="Arial"/>
                <a:ea typeface="Arial"/>
                <a:cs typeface="Arial"/>
              </a:rPr>
              <a:t>aarch64</a:t>
            </a:r>
          </a:p>
          <a:p xmlns:a="http://schemas.openxmlformats.org/drawingml/2006/main">
            <a:pPr algn="ctr">
              <a:defRPr sz="1650" b="1">
                <a:solidFill>
                  <a:srgbClr val="6B4B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B4BA3"/>
                </a:solidFill>
                <a:latin typeface="Arial"/>
                <a:ea typeface="Arial"/>
                <a:cs typeface="Arial"/>
              </a:rPr>
              <a:t>simple-mon</a:t>
            </a:r>
          </a:p>
          <a:p xmlns:a="http://schemas.openxmlformats.org/drawingml/2006/main">
            <a:pPr algn="ctr">
              <a:defRPr sz="1650" b="1">
                <a:solidFill>
                  <a:srgbClr val="6B4B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B4BA3"/>
                </a:solidFill>
                <a:latin typeface="Arial"/>
                <a:ea typeface="Arial"/>
                <a:cs typeface="Arial"/>
              </a:rPr>
              <a:t>KPM remoto via bridges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163E98-C10A-4D6A-AF49-F4025D9D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62300"/>
            <a:ext cx="131445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3E7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3ACB6F-B893-4F38-8BF0-8AD98615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62300"/>
            <a:ext cx="131445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B4BA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276136-3C7E-4D8F-916B-C4929EB2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543550"/>
            <a:ext cx="37719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8F4ED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C3A"/>
                </a:solidFill>
                <a:latin typeface="Arial"/>
                <a:ea typeface="Arial"/>
                <a:cs typeface="Arial"/>
              </a:rPr>
              <a:t>Grafana NMI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5638C4-270B-4EC8-A495-658C3C53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81600"/>
            <a:ext cx="264795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C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9A20D3-D127-4DCE-BE9E-D55E3275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181600"/>
            <a:ext cx="264795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C3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81462161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05B05F-92BE-4230-8E5F-09251A16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GUIA DIDÁTICO · OPEN RAN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31E0A7-FB19-4F6F-A8EF-36DF2803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Três perfis UE; um enlace ZMQ por vez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A52B83-C848-4601-B889-B3A69E5E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F41683-824E-43B4-9494-52A42D11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9151C6-6228-4A61-9941-0D62398D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PoC acadêmica · VPN institucional NMI · 1 set.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2EBFCC-8777-4C95-A8BD-D4AB9CB3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47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4ED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C3A"/>
                </a:solidFill>
                <a:latin typeface="Arial"/>
                <a:ea typeface="Arial"/>
                <a:cs typeface="Arial"/>
              </a:rPr>
              <a:t>UE1</a:t>
            </a:r>
          </a:p>
          <a:p xmlns:a="http://schemas.openxmlformats.org/drawingml/2006/main">
            <a:pPr algn="ctr">
              <a:defRPr sz="1725" b="1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C3A"/>
                </a:solidFill>
                <a:latin typeface="Arial"/>
                <a:ea typeface="Arial"/>
                <a:cs typeface="Arial"/>
              </a:rPr>
              <a:t>IMSI …001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F0F96-D3E1-4448-B542-97EF7CFC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00250"/>
            <a:ext cx="247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4ED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C3A"/>
                </a:solidFill>
                <a:latin typeface="Arial"/>
                <a:ea typeface="Arial"/>
                <a:cs typeface="Arial"/>
              </a:rPr>
              <a:t>UE2</a:t>
            </a:r>
          </a:p>
          <a:p xmlns:a="http://schemas.openxmlformats.org/drawingml/2006/main">
            <a:pPr algn="ctr">
              <a:defRPr sz="1725" b="1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C3A"/>
                </a:solidFill>
                <a:latin typeface="Arial"/>
                <a:ea typeface="Arial"/>
                <a:cs typeface="Arial"/>
              </a:rPr>
              <a:t>IMSI …002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7DAB4A-DC61-4265-8C5F-C45BBD22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00250"/>
            <a:ext cx="247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4ED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C3A"/>
                </a:solidFill>
                <a:latin typeface="Arial"/>
                <a:ea typeface="Arial"/>
                <a:cs typeface="Arial"/>
              </a:rPr>
              <a:t>UE3</a:t>
            </a:r>
          </a:p>
          <a:p xmlns:a="http://schemas.openxmlformats.org/drawingml/2006/main">
            <a:pPr algn="ctr">
              <a:defRPr sz="1725" b="1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C3A"/>
                </a:solidFill>
                <a:latin typeface="Arial"/>
                <a:ea typeface="Arial"/>
                <a:cs typeface="Arial"/>
              </a:rPr>
              <a:t>IMSI …003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8C8C04-2742-44FA-91D0-B97A0D97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76600"/>
            <a:ext cx="796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B4BA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E359C9-9136-488B-9774-C3B4C23B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81400"/>
            <a:ext cx="5524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0EBF8"/>
          </a:solidFill>
          <a:ln xmlns:a="http://schemas.openxmlformats.org/drawingml/2006/main" w="11430">
            <a:solidFill>
              <a:srgbClr val="6B4B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B4BA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B4BA3"/>
                </a:solidFill>
                <a:latin typeface="Arial"/>
                <a:ea typeface="Arial"/>
                <a:cs typeface="Arial"/>
              </a:rPr>
              <a:t>ZMQ ponto a ponto → uma sessão ativa de cada vez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A06B8C-8A0A-4162-949E-3E916CE1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29100"/>
            <a:ext cx="171450" cy="514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solidFill>
              <a:srgbClr val="C9D2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EB81F0-7BF1-4AFC-A22A-B6EA0816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38700"/>
            <a:ext cx="1905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A85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A85A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85A00"/>
                </a:solidFill>
                <a:latin typeface="Arial"/>
                <a:ea typeface="Arial"/>
                <a:cs typeface="Arial"/>
              </a:rPr>
              <a:t>O-DU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960ABA-09CF-445E-8E61-8A804619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95950"/>
            <a:ext cx="80010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A85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F29ED9-1D94-4300-BBCC-E8B75F09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772150"/>
            <a:ext cx="7734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A85A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A85A00"/>
                </a:solidFill>
                <a:latin typeface="Arial"/>
                <a:ea typeface="Arial"/>
                <a:cs typeface="Arial"/>
              </a:rPr>
              <a:t>LIMITAÇÃO KPM ATUAL · Report Style 1 com noLabel=true é agregado no O-DU/célula. Prova carga de rádio, mas não atribui o valor a um IMSI específico.</a:t>
            </a:r>
          </a:p>
        </p:txBody>
      </p:sp>
    </p:spTree>
    <p:extLst>
      <p:ext uri="{BB962C8B-B14F-4D97-AF65-F5344CB8AC3E}">
        <p14:creationId xmlns:p14="http://schemas.microsoft.com/office/powerpoint/2010/main" val="301945723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E3DCCA-6277-496F-B905-5326132C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GUIA DIDÁTICO · OPEN RAN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B9EC4E-91F3-4278-B82F-A8E47132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Como um aluno cria uma nova xApp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879EBC-F828-439A-89D8-3D72D5F0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D45C2-4C17-4722-B4A3-6946B564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B4575-0863-454A-9AD9-0CFA64A0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PoC acadêmica · VPN institucional NMI · 1 set.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4BEB11-227F-4A96-9995-DC7F4A68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C3A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1D8DB8-6857-474C-9973-8669A13F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90700"/>
            <a:ext cx="449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Escolher uma pergunta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1BF97-BBA8-492F-81DA-4043DB4D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47875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qual KPI e qual comportamento?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A40D2C-0F2D-4FE0-84A8-CBC4D57B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E75"/>
          </a:solidFill>
          <a:ln xmlns:a="http://schemas.openxmlformats.org/drawingml/2006/main" w="1143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73A91A-0DDD-4286-93C3-90F83CBE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90800"/>
            <a:ext cx="449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3E7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3E75"/>
                </a:solidFill>
                <a:latin typeface="Arial"/>
                <a:ea typeface="Arial"/>
                <a:cs typeface="Arial"/>
              </a:rPr>
              <a:t>Gerar o scaffold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DEB245-E131-4094-9950-BC5A43AF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47975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scripts/new-kpm-xapp.sh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11E1A4-B882-48AF-B9A2-E1CBD7B9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4BA3"/>
          </a:solidFill>
          <a:ln xmlns:a="http://schemas.openxmlformats.org/drawingml/2006/main" w="11430">
            <a:solidFill>
              <a:srgbClr val="6B4B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5A8B0F-4BD2-4CDF-9699-E49C2B09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90900"/>
            <a:ext cx="449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B4BA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B4BA3"/>
                </a:solidFill>
                <a:latin typeface="Arial"/>
                <a:ea typeface="Arial"/>
                <a:cs typeface="Arial"/>
              </a:rPr>
              <a:t>Programar e testar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E2C283-2FAC-40A4-995B-CC0EA64C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48075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callback rápido + métricas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B067A8-DB3F-47C3-8C54-B5A225B5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A00"/>
          </a:solidFill>
          <a:ln xmlns:a="http://schemas.openxmlformats.org/drawingml/2006/main" w="11430">
            <a:solidFill>
              <a:srgbClr val="A85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69221A-4539-4BF6-9DD0-3175DCB0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449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85A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85A00"/>
                </a:solidFill>
                <a:latin typeface="Arial"/>
                <a:ea typeface="Arial"/>
                <a:cs typeface="Arial"/>
              </a:rPr>
              <a:t>Publicar imagem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9DF480-379F-4841-A76E-6648316C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48175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digest multiarch imutável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28ADB8-8729-4BDB-8AFE-6BAF8757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C3A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0E5592-104A-4172-86DC-95BE0944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90700"/>
            <a:ext cx="449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Publicar blueprint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410F3F-939D-4A28-94D7-16EFEA0A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47875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Porch + PackageVariant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0D9860-6F9C-4FE9-9F77-D68D2B0A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90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E75"/>
          </a:solidFill>
          <a:ln xmlns:a="http://schemas.openxmlformats.org/drawingml/2006/main" w="1143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93974F-6B52-44A1-AA60-4281EA72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90800"/>
            <a:ext cx="449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3E7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3E75"/>
                </a:solidFill>
                <a:latin typeface="Arial"/>
                <a:ea typeface="Arial"/>
                <a:cs typeface="Arial"/>
              </a:rPr>
              <a:t>Entregar pelo Flux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4AB548-2A59-4244-AA73-E8665CF3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47975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identidade restrita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A6ECB4-9883-4A56-8EF4-196060EA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90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4BA3"/>
          </a:solidFill>
          <a:ln xmlns:a="http://schemas.openxmlformats.org/drawingml/2006/main" w="11430">
            <a:solidFill>
              <a:srgbClr val="6B4B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B5809C-0CD2-4AE8-83B9-F16FE5A3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90900"/>
            <a:ext cx="449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B4BA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B4BA3"/>
                </a:solidFill>
                <a:latin typeface="Arial"/>
                <a:ea typeface="Arial"/>
                <a:cs typeface="Arial"/>
              </a:rPr>
              <a:t>Estimular a 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ACEF78-5BA1-452B-B4DF-8ED34965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48075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50 MB por tun_srsue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7E3DBC-5E34-4A6B-A4BA-7BC5FE55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A00"/>
          </a:solidFill>
          <a:ln xmlns:a="http://schemas.openxmlformats.org/drawingml/2006/main" w="11430">
            <a:solidFill>
              <a:srgbClr val="A85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528513-E878-4519-AE65-53DA2C20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91000"/>
            <a:ext cx="449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85A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85A00"/>
                </a:solidFill>
                <a:latin typeface="Arial"/>
                <a:ea typeface="Arial"/>
                <a:cs typeface="Arial"/>
              </a:rPr>
              <a:t>Registrar evidência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78DB89-39F1-4CFC-AD40-EA8A0828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48175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Grafana + logs + relatório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E5D704-F827-4381-9BB6-A1CC6F07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67350"/>
            <a:ext cx="8001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8F4ED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2D25DA-9D92-48BB-B1B1-FC227CAE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54355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DIVISÃO DE RESPONSABILIDADE · Aluno: algoritmo, testes e hipótese. Infra: cluster, RIC, pacote, rede, credenciais e revisão do deploy.</a:t>
            </a:r>
          </a:p>
        </p:txBody>
      </p:sp>
    </p:spTree>
    <p:extLst>
      <p:ext uri="{BB962C8B-B14F-4D97-AF65-F5344CB8AC3E}">
        <p14:creationId xmlns:p14="http://schemas.microsoft.com/office/powerpoint/2010/main" val="90841211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A56B19-5760-424C-BA9D-7B3EA067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GUIA DIDÁTICO · OPEN RAN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323E7E-CF07-4EC0-BE4A-B992923F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Reproduzir sem adivinhar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89B2F-12E1-438E-832A-688E4280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57C7DB-7D9B-4285-BE55-C92D3203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1135EB-05ED-4310-9E44-EAB69DEB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PoC acadêmica · VPN institucional NMI · 1 set.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5961A-3D05-4007-9821-EE58AC11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333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3E75"/>
          </a:solidFill>
          <a:ln xmlns:a="http://schemas.openxmlformats.org/drawingml/2006/main" w="1143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· PREPARAR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EB0133-8B81-4C4F-9E82-56DBEA17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38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E75"/>
          </a:solidFill>
          <a:ln xmlns:a="http://schemas.openxmlformats.org/drawingml/2006/main" w="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06ABD7-6B4D-4B2B-AFAD-58A7601D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2705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VPN NMI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8D95D6-BA55-4C6A-8070-23752106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71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E75"/>
          </a:solidFill>
          <a:ln xmlns:a="http://schemas.openxmlformats.org/drawingml/2006/main" w="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EC3A17-A94B-41C8-ACA3-715B88DF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2705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clone do repositório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399065-B4FD-4634-997F-AA1E6F71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05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E75"/>
          </a:solidFill>
          <a:ln xmlns:a="http://schemas.openxmlformats.org/drawingml/2006/main" w="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D2ED4D-A597-40EE-877E-7170E578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2705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chaves/Secrets do laboratório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7A44E3-F756-4861-AFD8-F9866E42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87C3A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· VALIDAR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DDD41B-E235-495B-9558-BB3216E3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38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C3A"/>
          </a:solidFill>
          <a:ln xmlns:a="http://schemas.openxmlformats.org/drawingml/2006/main" w="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E73F10-3C9D-4176-875A-CAC5D9DD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571750"/>
            <a:ext cx="2705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kubectl get nodes -o wide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901F8E-C5EB-4B79-9E2B-007B9CEF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71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C3A"/>
          </a:solidFill>
          <a:ln xmlns:a="http://schemas.openxmlformats.org/drawingml/2006/main" w="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4EB568-EEBF-41DF-9113-8BA56B86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105150"/>
            <a:ext cx="2705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pods por namespace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9809FB-6B23-40E0-9ADE-D0B79011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705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C3A"/>
          </a:solidFill>
          <a:ln xmlns:a="http://schemas.openxmlformats.org/drawingml/2006/main" w="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7C1D0D-E299-406B-9934-375173A0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638550"/>
            <a:ext cx="2705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E2 node CONNECTED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CF9320-B40A-401D-A6B7-647C2DA9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333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6B4BA3"/>
          </a:solidFill>
          <a:ln xmlns:a="http://schemas.openxmlformats.org/drawingml/2006/main" w="11430">
            <a:solidFill>
              <a:srgbClr val="6B4B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· DEMONSTRAR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50667F-DB67-4D63-BD1F-FA526AB2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38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4BA3"/>
          </a:solidFill>
          <a:ln xmlns:a="http://schemas.openxmlformats.org/drawingml/2006/main" w="0">
            <a:solidFill>
              <a:srgbClr val="6B4B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519F0E-A2A1-408D-A45A-926330AA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71750"/>
            <a:ext cx="2705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demo-ue-lab.sh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913AB3-4265-4B1C-9D69-6434895F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71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4BA3"/>
          </a:solidFill>
          <a:ln xmlns:a="http://schemas.openxmlformats.org/drawingml/2006/main" w="0">
            <a:solidFill>
              <a:srgbClr val="6B4B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6F2186-120E-4E65-B4C8-11A92A02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05150"/>
            <a:ext cx="2705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demo-load-watch.sh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3CD990-2926-49B1-B502-CE105B38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05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4BA3"/>
          </a:solidFill>
          <a:ln xmlns:a="http://schemas.openxmlformats.org/drawingml/2006/main" w="0">
            <a:solidFill>
              <a:srgbClr val="6B4B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013D4F-5479-437E-90BA-7756A9B3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38550"/>
            <a:ext cx="2705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Grafana + Nephio WebUI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2E6A17-DEE5-4B9D-94F3-A9D7EAD5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0"/>
            <a:ext cx="9144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12B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4212B"/>
                </a:solidFill>
                <a:latin typeface="Courier New"/>
                <a:ea typeface="Courier New"/>
                <a:cs typeface="Courier New"/>
              </a:rPr>
              <a:t>kubectl get nodes</a:t>
            </a:r>
          </a:p>
          <a:p xmlns:a="http://schemas.openxmlformats.org/drawingml/2006/main">
            <a:pPr algn="l">
              <a:defRPr sz="1425" b="0">
                <a:solidFill>
                  <a:srgbClr val="14212B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4212B"/>
                </a:solidFill>
                <a:latin typeface="Courier New"/>
                <a:ea typeface="Courier New"/>
                <a:cs typeface="Courier New"/>
              </a:rPr>
              <a:t>kubectl get pods -A -o wide</a:t>
            </a:r>
          </a:p>
          <a:p xmlns:a="http://schemas.openxmlformats.org/drawingml/2006/main">
            <a:pPr algn="l">
              <a:defRPr sz="1425" b="0">
                <a:solidFill>
                  <a:srgbClr val="14212B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4212B"/>
                </a:solidFill>
                <a:latin typeface="Courier New"/>
                <a:ea typeface="Courier New"/>
                <a:cs typeface="Courier New"/>
              </a:rPr>
              <a:t>kubectl get kustomizations -A</a:t>
            </a:r>
          </a:p>
          <a:p xmlns:a="http://schemas.openxmlformats.org/drawingml/2006/main">
            <a:pPr algn="l">
              <a:defRPr sz="1425" b="0">
                <a:solidFill>
                  <a:srgbClr val="14212B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4212B"/>
                </a:solidFill>
                <a:latin typeface="Courier New"/>
                <a:ea typeface="Courier New"/>
                <a:cs typeface="Courier New"/>
              </a:rPr>
              <a:t>kubectl logs -n ricxapp deploy/kpm-load-watch --tail=80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38428F-DE44-4F20-8AF9-ACA0EBB4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9055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82A4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82A4D"/>
                </a:solidFill>
                <a:latin typeface="Arial"/>
                <a:ea typeface="Arial"/>
                <a:cs typeface="Arial"/>
              </a:rPr>
              <a:t>Os guias detalhados ficam em docs/ e no PDF do tutorial de xApp.</a:t>
            </a:r>
          </a:p>
        </p:txBody>
      </p:sp>
    </p:spTree>
    <p:extLst>
      <p:ext uri="{BB962C8B-B14F-4D97-AF65-F5344CB8AC3E}">
        <p14:creationId xmlns:p14="http://schemas.microsoft.com/office/powerpoint/2010/main" val="643094018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5BE88E-8823-4A87-A080-582EDE78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GUIA DIDÁTICO · OPEN RAN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99E849-1207-4054-808E-B8C05B83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Roteiro de demonstração em 10 minutos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AFF19B-45BF-46CD-B3CF-3377FDD2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59A46-A679-406C-AB70-AC81FFF7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0D2DC-57E4-49D8-8E5C-38E10170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PoC acadêmica · VPN institucional NMI · 1 set.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15098C-2EAE-4093-97CD-CC098B3D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333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82A4D"/>
          </a:solidFill>
          <a:ln xmlns:a="http://schemas.openxmlformats.org/drawingml/2006/main" w="11430">
            <a:solidFill>
              <a:srgbClr val="082A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00–02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5E5D6-7802-4D2D-AB06-478E7C10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90700"/>
            <a:ext cx="2095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143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3E7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3E75"/>
                </a:solidFill>
                <a:latin typeface="Arial"/>
                <a:ea typeface="Arial"/>
                <a:cs typeface="Arial"/>
              </a:rPr>
              <a:t>Mapa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2468E0-2EE9-4232-A6F3-47ED65C1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669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mostrar 5 nós NMI + 2 ARM CIC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63A2CC-3128-4FB2-82B9-F1F8AAF3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847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D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C3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963F43-F9A7-4B7E-B3A5-BBB24037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333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82A4D"/>
          </a:solidFill>
          <a:ln xmlns:a="http://schemas.openxmlformats.org/drawingml/2006/main" w="11430">
            <a:solidFill>
              <a:srgbClr val="082A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02–04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CC92A9-4A8B-4B0F-B5DA-BFE7B8A0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71750"/>
            <a:ext cx="2095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143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3E7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3E75"/>
                </a:solidFill>
                <a:latin typeface="Arial"/>
                <a:ea typeface="Arial"/>
                <a:cs typeface="Arial"/>
              </a:rPr>
              <a:t>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089B1F-264D-4A82-9559-6653D0CA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479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Open5GS: assinantes e sessão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269A00-0F90-4FC2-90A3-11B89815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28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D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C3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EE8237-AC2E-47AC-93BF-254D4741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1333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82A4D"/>
          </a:solidFill>
          <a:ln xmlns:a="http://schemas.openxmlformats.org/drawingml/2006/main" w="11430">
            <a:solidFill>
              <a:srgbClr val="082A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04–06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5D0F93-CCEA-4EEB-BF2E-051D4DA4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52800"/>
            <a:ext cx="2095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143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3E7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3E75"/>
                </a:solidFill>
                <a:latin typeface="Arial"/>
                <a:ea typeface="Arial"/>
                <a:cs typeface="Arial"/>
              </a:rPr>
              <a:t>Nephio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675E9E-323D-4322-8FE1-A9979464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29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blueprint, variantes NMI/CIC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FC2469-17B1-4E42-A345-AE843985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09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D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C3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5E5957-A1F5-4958-8CB5-31C3F975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1333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82A4D"/>
          </a:solidFill>
          <a:ln xmlns:a="http://schemas.openxmlformats.org/drawingml/2006/main" w="11430">
            <a:solidFill>
              <a:srgbClr val="082A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06–08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410643-2831-4A0F-A20E-C4BF966E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33850"/>
            <a:ext cx="2095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143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3E7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3E75"/>
                </a:solidFill>
                <a:latin typeface="Arial"/>
                <a:ea typeface="Arial"/>
                <a:cs typeface="Arial"/>
              </a:rPr>
              <a:t>Estímulo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18ACAF-BD91-49A0-A9FC-91A1A0F4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10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UE + 50 MB por tun_srsue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6773F3-5DE4-4D44-94EE-01F6B222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D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C3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8A1760-B055-4D34-BEC2-28854531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333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82A4D"/>
          </a:solidFill>
          <a:ln xmlns:a="http://schemas.openxmlformats.org/drawingml/2006/main" w="11430">
            <a:solidFill>
              <a:srgbClr val="082A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08–10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245B0F-6A87-4172-905A-222203BC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14900"/>
            <a:ext cx="2095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1430">
            <a:solidFill>
              <a:srgbClr val="0B3E7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3E7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3E75"/>
                </a:solidFill>
                <a:latin typeface="Arial"/>
                <a:ea typeface="Arial"/>
                <a:cs typeface="Arial"/>
              </a:rPr>
              <a:t>Evidência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AACD98-3755-46CB-9C99-1FC762CC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911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KPM, estados e Grafana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CFD641-0C60-4B45-BF99-422D0F7A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972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D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C3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C85073-AC33-46A1-8BD1-F0B1E710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772150"/>
            <a:ext cx="84582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8F4ED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F3DD07-69CD-4E5B-8FDE-06808CC4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84835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FRASE DE FECHAMENTO · Código no Git virou pacote por site, pod em duas arquiteturas e evidência de rádio no Grafana.</a:t>
            </a:r>
          </a:p>
        </p:txBody>
      </p:sp>
    </p:spTree>
    <p:extLst>
      <p:ext uri="{BB962C8B-B14F-4D97-AF65-F5344CB8AC3E}">
        <p14:creationId xmlns:p14="http://schemas.microsoft.com/office/powerpoint/2010/main" val="1949204423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178BB5-3B41-44A6-BB9E-46A2365C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GUIA DIDÁTICO · OPEN RAN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435D1-B42C-43E1-8E84-1F6BA3BC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Onde observar cada parte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7DA0E5-89DE-40CE-B37C-9B3089E3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74BCEF-7113-4616-88FC-C022AF87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C587D-C901-4076-81D9-03DE9172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PoC acadêmica · VPN institucional NMI · 1 set.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0D109-7CF0-41B2-A37D-E662965E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E7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3A3D76-E954-4F18-AFE3-13331678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5260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E7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URL pela VPN NMI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E9708-3314-4EF6-96C1-4B9DD8E9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5260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E7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 que mostrar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733333-AE9E-4251-A542-83FC3263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050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Open5GS WebUI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FF87AA-CC42-4081-829C-5EFE56C3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050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192.168.72.10:30454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F40A0C-738B-4B2A-BABA-544B07BB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0505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assinantes / perfis 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1088A5-8697-4C25-BE94-DEAC2081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Nephio WebUI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94D31-CA48-4E53-8F54-9F3741E7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192.168.71.30:30707/config-as-data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696797-B5DF-4667-9444-C9F059C5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pacotes e repositórios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9EA87-E981-4DB3-8C90-CCA5F16C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099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Grafana · Overview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ED0449-C3C1-4A8D-9D1C-EC0CB8D2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099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192.168.72.10:30300/d/oran-overview/…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5BF458-71BA-438B-869A-E32A8FD2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0995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saúde, KPM e load-watch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F8B908-9C88-41FA-9EE2-FBD57D2C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624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Grafana · Multi-site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E8FD8B-37E9-4A1B-BDAF-BDF09A8C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6240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192.168.72.10:30300/d/oran-multisite/…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BD25C7-FFC8-4D6B-846C-39901287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6240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NMI x CIC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6B445C-829A-4145-84BF-6EABDBF1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148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Grafana · Logs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A0DF13-6FAE-4027-BB53-A3A36F0A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148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192.168.72.10:30300/d/oran-logs/…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6A72EC-7781-4351-9802-3C3DF87B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1485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Loki / Alloy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9D56D5-264D-42D7-BD20-A17728E6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673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Alertmanager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686768-A80C-4E2D-8482-B8DB8A06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6730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192.168.72.10:30301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CE352F-6CAD-4F7A-B24A-022053ED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6730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alertas ativos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C13AC2-A4A4-4F80-BD4C-9110088E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772150"/>
            <a:ext cx="90678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A85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FA7103-ECD1-411B-95C3-91E55403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848350"/>
            <a:ext cx="880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A85A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A85A00"/>
                </a:solidFill>
                <a:latin typeface="Arial"/>
                <a:ea typeface="Arial"/>
                <a:cs typeface="Arial"/>
              </a:rPr>
              <a:t>ACESSO · As URLs são privadas e exigem VPN NMI. Credenciais ficam em Secrets/cofre ou são fornecidas pelo responsável do laboratório — não no material público.</a:t>
            </a:r>
          </a:p>
        </p:txBody>
      </p:sp>
    </p:spTree>
    <p:extLst>
      <p:ext uri="{BB962C8B-B14F-4D97-AF65-F5344CB8AC3E}">
        <p14:creationId xmlns:p14="http://schemas.microsoft.com/office/powerpoint/2010/main" val="392831625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18A217-3A37-461B-9440-D4ECD098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C3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C3A"/>
                </a:solidFill>
                <a:latin typeface="Arial"/>
                <a:ea typeface="Arial"/>
                <a:cs typeface="Arial"/>
              </a:rPr>
              <a:t>GUIA DIDÁTICO · OPEN RAN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D080C5-1338-40DB-AB8F-6DD523C2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4212B"/>
                </a:solidFill>
                <a:latin typeface="Arial"/>
                <a:ea typeface="Arial"/>
                <a:cs typeface="Arial"/>
              </a:rPr>
              <a:t>Limitações viram perguntas de pesquisa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614B38-0FC8-4877-925D-EF0AAA57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8024C-BD39-40D7-B475-45ED3095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F42DF-1455-4F33-A64E-038CD4B0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07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7D"/>
                </a:solidFill>
                <a:latin typeface="Arial"/>
                <a:ea typeface="Arial"/>
                <a:cs typeface="Arial"/>
              </a:rPr>
              <a:t>PoC acadêmica · VPN institucional NMI · 1 set.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8C8481-723D-409A-92D0-371C1727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476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E7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Hoje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ABEEDB-6F71-482C-A0EA-420EC085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90700"/>
            <a:ext cx="514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E7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Próximo experimento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92ACED-171C-405A-86FC-38BACB45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19350"/>
            <a:ext cx="476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um peer ZMQ por vez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C0A05-70AD-4F8C-AB51-BAFD0C92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19350"/>
            <a:ext cx="514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múltiplos UEs/RUs ou rádio SDR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357E3-D7BE-409C-A491-ACE04E21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476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KPM agregado no O-DU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0D6719-5A3B-4D2B-A03E-5EF28D82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48000"/>
            <a:ext cx="514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Report Style/per-UE + correlação RAN ID ↔ IMSI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A6F48E-21F4-439F-9A9B-152395B2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76650"/>
            <a:ext cx="476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xApps só observam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992F04-AD52-4CA4-B684-EA371203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76650"/>
            <a:ext cx="514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E2SM-RC com limites e segurança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A55B8B-779E-4521-B400-7D8AB6BA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476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PoC multi-site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4F2F60-01FD-4BF5-B100-09CE3932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05300"/>
            <a:ext cx="514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experimentos de latência, placement e 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2CBC72-1DFC-4733-9E24-72085468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476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duas xApps de referência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147E6D-281C-48C8-96A8-63C51476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33950"/>
            <a:ext cx="514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2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novos algoritmos e artigos dos alunos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48AC68-2CC5-4473-99B4-68CDD959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340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82A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2A4D"/>
                </a:solidFill>
                <a:latin typeface="Arial"/>
                <a:ea typeface="Arial"/>
                <a:cs typeface="Arial"/>
              </a:rPr>
              <a:t>Não buscamos produção ou alta disponibilidade; buscamos uma bancada transparente, quebrável, recuperável e cientificamente mensurável.</a:t>
            </a:r>
          </a:p>
        </p:txBody>
      </p:sp>
    </p:spTree>
    <p:extLst>
      <p:ext uri="{BB962C8B-B14F-4D97-AF65-F5344CB8AC3E}">
        <p14:creationId xmlns:p14="http://schemas.microsoft.com/office/powerpoint/2010/main" val="102598828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82A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4a7ec006a34f23"/>
          <a:stretch xmlns:a="http://schemas.openxmlformats.org/drawingml/2006/main"/>
        </p:blipFill>
        <p:spPr>
          <a:xfrm xmlns:a="http://schemas.openxmlformats.org/drawingml/2006/main">
            <a:off x="1020751" y="514350"/>
            <a:ext cx="1082698" cy="95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81D2A-6E6F-4F5C-9BF6-242887D8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A9D9BD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A9D9BD"/>
                </a:solidFill>
                <a:latin typeface="Arial"/>
                <a:ea typeface="Arial"/>
                <a:cs typeface="Arial"/>
              </a:rPr>
              <a:t>A ideia que precisa ficar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FD878E-83D6-4A84-B797-A43CA366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74295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Nephio entrega intenção.</a:t>
            </a:r>
          </a:p>
          <a:p xmlns:a="http://schemas.openxmlformats.org/drawingml/2006/main">
            <a:pPr algn="l">
              <a:defRPr sz="3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Kubernetes executa.</a:t>
            </a:r>
          </a:p>
          <a:p xmlns:a="http://schemas.openxmlformats.org/drawingml/2006/main">
            <a:pPr algn="l">
              <a:defRPr sz="3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 RAN gera o experimento.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1D6C6-0BBF-4E4B-ABCD-ACC99582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790700"/>
            <a:ext cx="2381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87C3A"/>
          </a:solidFill>
          <a:ln xmlns:a="http://schemas.openxmlformats.org/drawingml/2006/main" w="11430">
            <a:solidFill>
              <a:srgbClr val="087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ALUNO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463D73-E7B6-46C5-94BB-4FD3C428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47950"/>
            <a:ext cx="2381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formula hipótese</a:t>
            </a:r>
          </a:p>
          <a:p xmlns:a="http://schemas.openxmlformats.org/drawingml/2006/main">
            <a:pPr algn="ctr">
              <a:defRPr sz="18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programa xApp</a:t>
            </a:r>
          </a:p>
          <a:p xmlns:a="http://schemas.openxmlformats.org/drawingml/2006/main">
            <a:pPr algn="ctr">
              <a:defRPr sz="18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gera estímulo</a:t>
            </a:r>
          </a:p>
          <a:p xmlns:a="http://schemas.openxmlformats.org/drawingml/2006/main">
            <a:pPr algn="ctr">
              <a:defRPr sz="18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mede resultado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05805C-5687-4410-BBE8-A8DCF438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6260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D6E4E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D6E4EF"/>
                </a:solidFill>
                <a:latin typeface="Arial"/>
                <a:ea typeface="Arial"/>
                <a:cs typeface="Arial"/>
              </a:rPr>
              <a:t>Repositório, tutorial e laboratório formam uma plataforma para aulas, TCCs e artigos.</a:t>
            </a:r>
          </a:p>
        </p:txBody>
      </p:sp>
    </p:spTree>
    <p:extLst>
      <p:ext uri="{BB962C8B-B14F-4D97-AF65-F5344CB8AC3E}">
        <p14:creationId xmlns:p14="http://schemas.microsoft.com/office/powerpoint/2010/main" val="8386693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2026-09-01T04:17:54.5960000Z</dcterms:created>
  <dcterms:modified xsi:type="dcterms:W3CDTF">2026-09-01T04:17:54.5960000Z</dcterms:modified>
</coreProperties>
</file>
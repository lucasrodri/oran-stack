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4b4792e5ee44c5" /><Relationship Type="http://schemas.openxmlformats.org/officeDocument/2006/relationships/extended-properties" Target="/docProps/app.xml" Id="R62a8717027a34922" /><Relationship Type="http://schemas.openxmlformats.org/officeDocument/2006/relationships/officeDocument" Target="/ppt/presentation.xml" Id="R3200992ca6ed4a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7674a4eb2f47b7"/>
  </p:sldMasterIdLst>
  <p:notesMasterIdLst>
    <p:notesMasterId xmlns:r="http://schemas.openxmlformats.org/officeDocument/2006/relationships" r:id="R4daeb0009bf0456f"/>
  </p:notesMasterIdLst>
  <p:sldIdLst>
    <p:sldId xmlns:r="http://schemas.openxmlformats.org/officeDocument/2006/relationships" id="256" r:id="Rdfafb4a1566d4baa"/>
    <p:sldId xmlns:r="http://schemas.openxmlformats.org/officeDocument/2006/relationships" id="257" r:id="R7d5e6bb2b0e14fa1"/>
    <p:sldId xmlns:r="http://schemas.openxmlformats.org/officeDocument/2006/relationships" id="258" r:id="Rb7bddde4fdec4968"/>
    <p:sldId xmlns:r="http://schemas.openxmlformats.org/officeDocument/2006/relationships" id="259" r:id="R5c6a655c211c4275"/>
    <p:sldId xmlns:r="http://schemas.openxmlformats.org/officeDocument/2006/relationships" id="260" r:id="Rc6c34201ce804f63"/>
    <p:sldId xmlns:r="http://schemas.openxmlformats.org/officeDocument/2006/relationships" id="261" r:id="Ree9c0d72d37e40f8"/>
    <p:sldId xmlns:r="http://schemas.openxmlformats.org/officeDocument/2006/relationships" id="262" r:id="R6daed937e6f740cf"/>
    <p:sldId xmlns:r="http://schemas.openxmlformats.org/officeDocument/2006/relationships" id="263" r:id="R37e02f7b6205415e"/>
    <p:sldId xmlns:r="http://schemas.openxmlformats.org/officeDocument/2006/relationships" id="264" r:id="Raf8840cf1f90409c"/>
    <p:sldId xmlns:r="http://schemas.openxmlformats.org/officeDocument/2006/relationships" id="265" r:id="Rbdf95ce4e7ac4616"/>
    <p:sldId xmlns:r="http://schemas.openxmlformats.org/officeDocument/2006/relationships" id="266" r:id="Rec89003ec3aa44d5"/>
    <p:sldId xmlns:r="http://schemas.openxmlformats.org/officeDocument/2006/relationships" id="267" r:id="R0d525a0342a2401b"/>
    <p:sldId xmlns:r="http://schemas.openxmlformats.org/officeDocument/2006/relationships" id="268" r:id="R19388d8fe9ff475d"/>
    <p:sldId xmlns:r="http://schemas.openxmlformats.org/officeDocument/2006/relationships" id="269" r:id="R0d17f7c46b444feb"/>
    <p:sldId xmlns:r="http://schemas.openxmlformats.org/officeDocument/2006/relationships" id="270" r:id="R306f36e4eead4cd2"/>
    <p:sldId xmlns:r="http://schemas.openxmlformats.org/officeDocument/2006/relationships" id="271" r:id="R087ec571d264456f"/>
    <p:sldId xmlns:r="http://schemas.openxmlformats.org/officeDocument/2006/relationships" id="272" r:id="Rad7f583c7e5e40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e6cf3588174553" /><Relationship Type="http://schemas.openxmlformats.org/officeDocument/2006/relationships/slideMaster" Target="/ppt/slideMasters/slideMaster1.xml" Id="Ra67674a4eb2f47b7" /><Relationship Type="http://schemas.openxmlformats.org/officeDocument/2006/relationships/notesMaster" Target="/ppt/notesMasters/notesMaster1.xml" Id="R4daeb0009bf0456f" /><Relationship Type="http://schemas.openxmlformats.org/officeDocument/2006/relationships/presProps" Target="/ppt/presProps.xml" Id="R7d2df1dc35c34f29" /><Relationship Type="http://schemas.openxmlformats.org/officeDocument/2006/relationships/tableStyles" Target="/ppt/tableStyles.xml" Id="R661c32a511d14945" /><Relationship Type="http://schemas.openxmlformats.org/officeDocument/2006/relationships/slide" Target="/ppt/slides/slide1.xml" Id="Rdfafb4a1566d4baa" /><Relationship Type="http://schemas.openxmlformats.org/officeDocument/2006/relationships/slide" Target="/ppt/slides/slide2.xml" Id="R7d5e6bb2b0e14fa1" /><Relationship Type="http://schemas.openxmlformats.org/officeDocument/2006/relationships/slide" Target="/ppt/slides/slide3.xml" Id="Rb7bddde4fdec4968" /><Relationship Type="http://schemas.openxmlformats.org/officeDocument/2006/relationships/slide" Target="/ppt/slides/slide4.xml" Id="R5c6a655c211c4275" /><Relationship Type="http://schemas.openxmlformats.org/officeDocument/2006/relationships/slide" Target="/ppt/slides/slide5.xml" Id="Rc6c34201ce804f63" /><Relationship Type="http://schemas.openxmlformats.org/officeDocument/2006/relationships/slide" Target="/ppt/slides/slide6.xml" Id="Ree9c0d72d37e40f8" /><Relationship Type="http://schemas.openxmlformats.org/officeDocument/2006/relationships/slide" Target="/ppt/slides/slide7.xml" Id="R6daed937e6f740cf" /><Relationship Type="http://schemas.openxmlformats.org/officeDocument/2006/relationships/slide" Target="/ppt/slides/slide8.xml" Id="R37e02f7b6205415e" /><Relationship Type="http://schemas.openxmlformats.org/officeDocument/2006/relationships/slide" Target="/ppt/slides/slide9.xml" Id="Raf8840cf1f90409c" /><Relationship Type="http://schemas.openxmlformats.org/officeDocument/2006/relationships/slide" Target="/ppt/slides/slide10.xml" Id="Rbdf95ce4e7ac4616" /><Relationship Type="http://schemas.openxmlformats.org/officeDocument/2006/relationships/slide" Target="/ppt/slides/slide11.xml" Id="Rec89003ec3aa44d5" /><Relationship Type="http://schemas.openxmlformats.org/officeDocument/2006/relationships/slide" Target="/ppt/slides/slide12.xml" Id="R0d525a0342a2401b" /><Relationship Type="http://schemas.openxmlformats.org/officeDocument/2006/relationships/slide" Target="/ppt/slides/slide13.xml" Id="R19388d8fe9ff475d" /><Relationship Type="http://schemas.openxmlformats.org/officeDocument/2006/relationships/slide" Target="/ppt/slides/slide14.xml" Id="R0d17f7c46b444feb" /><Relationship Type="http://schemas.openxmlformats.org/officeDocument/2006/relationships/slide" Target="/ppt/slides/slide15.xml" Id="R306f36e4eead4cd2" /><Relationship Type="http://schemas.openxmlformats.org/officeDocument/2006/relationships/slide" Target="/ppt/slides/slide16.xml" Id="R087ec571d264456f" /><Relationship Type="http://schemas.openxmlformats.org/officeDocument/2006/relationships/slide" Target="/ppt/slides/slide17.xml" Id="Rad7f583c7e5e40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03174d3ca6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324a9878964f18" /><Relationship Type="http://schemas.openxmlformats.org/officeDocument/2006/relationships/notesMaster" Target="/ppt/notesMasters/notesMaster1.xml" Id="R66d7d38e8dfe45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469f7f2044a2d" /><Relationship Type="http://schemas.openxmlformats.org/officeDocument/2006/relationships/notesMaster" Target="/ppt/notesMasters/notesMaster1.xml" Id="Rea97a027a0d2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8e3d46b59640b6" /><Relationship Type="http://schemas.openxmlformats.org/officeDocument/2006/relationships/notesMaster" Target="/ppt/notesMasters/notesMaster1.xml" Id="R4f2823635244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3afad444a43cd" /><Relationship Type="http://schemas.openxmlformats.org/officeDocument/2006/relationships/notesMaster" Target="/ppt/notesMasters/notesMaster1.xml" Id="R540b1c3108f04f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6a63eff9f24146" /><Relationship Type="http://schemas.openxmlformats.org/officeDocument/2006/relationships/notesMaster" Target="/ppt/notesMasters/notesMaster1.xml" Id="R097cce42660f45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5cb91bfe54d30" /><Relationship Type="http://schemas.openxmlformats.org/officeDocument/2006/relationships/notesMaster" Target="/ppt/notesMasters/notesMaster1.xml" Id="Rbce19b666926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07698d488f4ecc" /><Relationship Type="http://schemas.openxmlformats.org/officeDocument/2006/relationships/notesMaster" Target="/ppt/notesMasters/notesMaster1.xml" Id="R8d09f23b85a042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4f90086194d07" /><Relationship Type="http://schemas.openxmlformats.org/officeDocument/2006/relationships/notesMaster" Target="/ppt/notesMasters/notesMaster1.xml" Id="R6ce9dbaeaa2c44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a7b451784848ec" /><Relationship Type="http://schemas.openxmlformats.org/officeDocument/2006/relationships/notesMaster" Target="/ppt/notesMasters/notesMaster1.xml" Id="R3a7f8b310c2d49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382e72253438e" /><Relationship Type="http://schemas.openxmlformats.org/officeDocument/2006/relationships/notesMaster" Target="/ppt/notesMasters/notesMaster1.xml" Id="R6871f772fb5b41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56b4f69dcf43f2" /><Relationship Type="http://schemas.openxmlformats.org/officeDocument/2006/relationships/notesMaster" Target="/ppt/notesMasters/notesMaster1.xml" Id="R361ea0e46b3547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242b9bbf5b4dc5" /><Relationship Type="http://schemas.openxmlformats.org/officeDocument/2006/relationships/notesMaster" Target="/ppt/notesMasters/notesMaster1.xml" Id="R8f25fe4105744c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77d69d228f4bbc" /><Relationship Type="http://schemas.openxmlformats.org/officeDocument/2006/relationships/notesMaster" Target="/ppt/notesMasters/notesMaster1.xml" Id="R5dcd9ef2c3d646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d9c975924f4be7" /><Relationship Type="http://schemas.openxmlformats.org/officeDocument/2006/relationships/notesMaster" Target="/ppt/notesMasters/notesMaster1.xml" Id="R631bf53712bc46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7d8a63c61946f4" /><Relationship Type="http://schemas.openxmlformats.org/officeDocument/2006/relationships/notesMaster" Target="/ppt/notesMasters/notesMaster1.xml" Id="R25629841f0084f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29f3af4ed34a0b" /><Relationship Type="http://schemas.openxmlformats.org/officeDocument/2006/relationships/notesMaster" Target="/ppt/notesMasters/notesMaster1.xml" Id="R729f4e6b5f654f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eed839ebaa486a" /><Relationship Type="http://schemas.openxmlformats.org/officeDocument/2006/relationships/notesMaster" Target="/ppt/notesMasters/notesMaster1.xml" Id="Re97d7e1ed8f5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Estado validado nos clusters NMI e CIC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Validações demo-kpm-multisite.sh e demo-ue-lab.sh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Inventários kubectl NMI/CIC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docs/NMI_DEPLOYMENT.md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Distribuição de pods validada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scripts/demo-ue-lab.sh</a:t>
            </a:r>
          </a:p>
          <a:p xmlns:a="http://schemas.openxmlformats.org/drawingml/2006/main">
            <a:r>
              <a:t>- Attach UE2/UE3 validado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helm/near-rt-ric/values.yaml</a:t>
            </a:r>
          </a:p>
          <a:p xmlns:a="http://schemas.openxmlformats.org/drawingml/2006/main">
            <a:r>
              <a:t>- https://github.com/o-ran-sc/ric-plt-e2</a:t>
            </a:r>
          </a:p>
          <a:p xmlns:a="http://schemas.openxmlformats.org/drawingml/2006/main">
            <a:r>
              <a:t>- https://github.com/o-ran-sc/ric-plt-submgr</a:t>
            </a:r>
          </a:p>
          <a:p xmlns:a="http://schemas.openxmlformats.org/drawingml/2006/main">
            <a:r>
              <a:t>- https://github.com/o-ran-sc/ric-plt-rtmgr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xapps/python/kpm_mon_xapp.py</a:t>
            </a:r>
          </a:p>
          <a:p xmlns:a="http://schemas.openxmlformats.org/drawingml/2006/main">
            <a:r>
              <a:t>- xapps/python/kpm_load_watch_xapp.py</a:t>
            </a:r>
          </a:p>
          <a:p xmlns:a="http://schemas.openxmlformats.org/drawingml/2006/main">
            <a:r>
              <a:t>- scripts/demo-load-watch.sh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ansible/roles/deploy_xapp/tasks/main.yml</a:t>
            </a:r>
          </a:p>
          <a:p xmlns:a="http://schemas.openxmlformats.org/drawingml/2006/main">
            <a:r>
              <a:t>- xapps/python/lib/xAppBase.py</a:t>
            </a:r>
          </a:p>
          <a:p xmlns:a="http://schemas.openxmlformats.org/drawingml/2006/main">
            <a:r>
              <a:t>- docs/OBSERVABILITY.md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Inventários kubectl/Flux e métricas KPM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Validação ao vivo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docs/LEARNINGS.md</a:t>
            </a:r>
          </a:p>
          <a:p xmlns:a="http://schemas.openxmlformats.org/drawingml/2006/main">
            <a:r>
              <a:t>- docs/RIC_IMAGES.md</a:t>
            </a:r>
          </a:p>
          <a:p xmlns:a="http://schemas.openxmlformats.org/drawingml/2006/main">
            <a:r>
              <a:t>- commits ad287bf e 11138e7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- Objetivo declarado: laboratório acadêmico, não produção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scripts/demo-kpm-multisite.sh</a:t>
            </a:r>
          </a:p>
          <a:p xmlns:a="http://schemas.openxmlformats.org/drawingml/2006/main">
            <a:r>
              <a:t>- Métricas CIC validadas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https://docs.nephio.org/docs/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https://docs.nephio.org/docs/architecture/</a:t>
            </a:r>
          </a:p>
          <a:p xmlns:a="http://schemas.openxmlformats.org/drawingml/2006/main">
            <a:r>
              <a:t>- PackageVariants e Flux NMI/CIC validados em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docs/STATUS.md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docs/STUDENT_XAPP_LAB.md</a:t>
            </a:r>
          </a:p>
          <a:p xmlns:a="http://schemas.openxmlformats.org/drawingml/2006/main">
            <a:r>
              <a:t>- docs/UE_SIMULATION_LAB.md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c84274703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6e19e413f048c6" /><Relationship Type="http://schemas.openxmlformats.org/officeDocument/2006/relationships/slideLayout" Target="/ppt/slideLayouts/slideLayout1.xml" Id="Rd49ad304e659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ad304e659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1fa8240a34c54" /><Relationship Type="http://schemas.openxmlformats.org/officeDocument/2006/relationships/notesSlide" Target="/ppt/notesSlides/notesSlide1.xml" Id="Rd34b0b5fe2b34e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509e616de4118" /><Relationship Type="http://schemas.openxmlformats.org/officeDocument/2006/relationships/notesSlide" Target="/ppt/notesSlides/notesSlide2.xml" Id="R563310bd7d2749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6ec98461e4aa3" /><Relationship Type="http://schemas.openxmlformats.org/officeDocument/2006/relationships/notesSlide" Target="/ppt/notesSlides/notesSlide3.xml" Id="R053d4c50f4e843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4b778e994429e" /><Relationship Type="http://schemas.openxmlformats.org/officeDocument/2006/relationships/notesSlide" Target="/ppt/notesSlides/notesSlide4.xml" Id="R474f172ed0fd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35c41ca884e7c" /><Relationship Type="http://schemas.openxmlformats.org/officeDocument/2006/relationships/notesSlide" Target="/ppt/notesSlides/notesSlide5.xml" Id="Ra6e01e5229704d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a881ca8394fa8" /><Relationship Type="http://schemas.openxmlformats.org/officeDocument/2006/relationships/notesSlide" Target="/ppt/notesSlides/notesSlide6.xml" Id="R99246283eeb449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121753f747d9" /><Relationship Type="http://schemas.openxmlformats.org/officeDocument/2006/relationships/notesSlide" Target="/ppt/notesSlides/notesSlide7.xml" Id="R16eaf0e3d1ec43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e657b81de49da" /><Relationship Type="http://schemas.openxmlformats.org/officeDocument/2006/relationships/notesSlide" Target="/ppt/notesSlides/notesSlide8.xml" Id="R8b690a0b2404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af0e4dbb34a01" /><Relationship Type="http://schemas.openxmlformats.org/officeDocument/2006/relationships/notesSlide" Target="/ppt/notesSlides/notesSlide9.xml" Id="Rb7312c05ef0e44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e33fbab3c4515" /><Relationship Type="http://schemas.openxmlformats.org/officeDocument/2006/relationships/notesSlide" Target="/ppt/notesSlides/notesSlide10.xml" Id="R49ad1712b0e84a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a3787cbe14e19" /><Relationship Type="http://schemas.openxmlformats.org/officeDocument/2006/relationships/notesSlide" Target="/ppt/notesSlides/notesSlide11.xml" Id="R9119e36b4f1b48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f3e4ad3d14745" /><Relationship Type="http://schemas.openxmlformats.org/officeDocument/2006/relationships/notesSlide" Target="/ppt/notesSlides/notesSlide12.xml" Id="R378a7748e2f443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281b1a962458f" /><Relationship Type="http://schemas.openxmlformats.org/officeDocument/2006/relationships/notesSlide" Target="/ppt/notesSlides/notesSlide13.xml" Id="Rdefecf4308414e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8dc539ef04c6d" /><Relationship Type="http://schemas.openxmlformats.org/officeDocument/2006/relationships/notesSlide" Target="/ppt/notesSlides/notesSlide14.xml" Id="Rd48c9f75c62941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05f4ddb7744f2" /><Relationship Type="http://schemas.openxmlformats.org/officeDocument/2006/relationships/notesSlide" Target="/ppt/notesSlides/notesSlide15.xml" Id="Ref9d4364181d4e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7ed813f2f421e" /><Relationship Type="http://schemas.openxmlformats.org/officeDocument/2006/relationships/notesSlide" Target="/ppt/notesSlides/notesSlide16.xml" Id="Rd2d4732f12874b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68a78298249dc" /><Relationship Type="http://schemas.openxmlformats.org/officeDocument/2006/relationships/notesSlide" Target="/ppt/notesSlides/notesSlide17.xml" Id="R3c02d915dd8a4f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77472-6B71-48DF-81F7-C0DA297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UnB | FT | NMI + CIC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51DDB-1C09-4947-AAD6-273CE93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23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 RAN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 Kubernetes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E2E1C-7EB9-4765-A7CF-232A9E4A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Arquitetura implantada, Nephio, xApps KPM e laboratório multi-UE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8DB90-544D-422B-8577-E100E62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POC NMI + CIC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nós amd64 + 2 ARM64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 xApps KPM | Nephio GitOps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69C27-9CAF-4798-9C44-58ACC106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31 de agosto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EE000-150D-4B72-8681-FF63F451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3217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3CDC7-9BCD-4168-BE9C-BEA8B49D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8C697-33D7-4689-8E4C-DF8830F5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POC agora cobre NMI, CIC, Nephio e novos 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43C8B-7A80-4608-9B1C-5438FF4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8B6E9-4135-4B0F-B190-0B636580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6D216-E58D-4CA9-9D7F-3237648B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06EB4-0AA9-4195-977F-FC8C6CF9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nós Ready no NMI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6B9AE-A2FB-40D7-8E30-B15B3601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2683C-47F4-4505-B488-7D071C0B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nós ARM64 Ready no CIC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E6710-4933-4B62-BCF8-7951859C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63A3E-F060-4A0E-A89B-CB5250F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perfis UE cadastrados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BA381-DA61-471A-B522-5A32442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Resultado principal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61E7-7F20-49F3-9675-509F11A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NMI executa Core, RAN, RIC, Nephio e observabilidade. O CIC executa a variante ARM64. UE2 e UE3 registram, geram tráfego e produzem KPM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F24E2-CAC2-4379-9522-4BCD0FC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333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Porch publica variantes; Flux entrega simple-mon no NMI/CIC e load-watch no NMI. Pico KPM comprovado: 28,8 Mbit/s.</a:t>
            </a:r>
          </a:p>
        </p:txBody>
      </p:sp>
    </p:spTree>
    <p:extLst>
      <p:ext uri="{BB962C8B-B14F-4D97-AF65-F5344CB8AC3E}">
        <p14:creationId xmlns:p14="http://schemas.microsoft.com/office/powerpoint/2010/main" val="1812090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D3D82-5C46-4D07-BDCA-907E6991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91BB8-1466-4164-9314-A425EBBC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Topologia implantada entre NMI e CIC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B8044-2A2B-499A-9FC9-7726585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26AA-C704-431D-AA6C-0DBA5DA3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00280-CA06-40A2-984C-81C3FE3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VPN NMI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operador /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4B00A-16AE-4E85-AC8B-3281144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574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F4A57-1C2B-484C-949B-4D5BF10A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6572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Perímetro NMI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pfSense1 .21 → rede 71  |  pfSense2 .22 → rede 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8D0F3-377A-404E-9970-AF575FD1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18859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CIC · ativo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 nós Ampere ARM64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C8DBA-44CC-4DDC-9A2C-84C23533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33337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D9B17-28C2-4276-9035-B0BD75DA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PROXMOX001 · LAN 192.168.71.0/24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C8755-FE20-4DDD-97B2-E3982890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8003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111 · worker .71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E2Term + RTMgr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113 · 192.168.71.30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Nephio + Porch + Web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2C2B1-D1E6-4A94-A34C-A569F3BD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81300"/>
            <a:ext cx="40957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8391-AE58-4946-9633-332615D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PROXMOX002 · LAN 192.168.72.0/24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9C533-707C-430F-850E-8B45FD63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0955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105 · control plane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192.168.72.10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Open5GS + RAN + RIC base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 perfis 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BACE6-FB4E-46FD-AF5C-20BD251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1409700" cy="16573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112 · worker .72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r4-simple-mon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kpm-load-watch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KPM + estados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A0FE3-327D-433B-BDB5-8D414675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2004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9C5CB-521B-4897-B55F-EC4DA0AF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DELL FÍSICO · 164.41.240.13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570D0-A6F8-4C3E-BDE0-7F24AE9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26670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nmi-srv03 · físico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Prometheus + Grafana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Loki + Alertmanager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Alloy coleta nos 5 nós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F2C85-3FC7-4E70-9199-889229B7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009CE-402F-4106-A511-37E31EC3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14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Flannel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D3A21-5D0D-4787-9578-928D729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53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5CF6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CE2DD-375E-44EA-9FB7-CFCD6A6F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38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D28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28D9"/>
                </a:solidFill>
                <a:latin typeface="Arial"/>
                <a:ea typeface="Arial"/>
                <a:cs typeface="Arial"/>
              </a:rPr>
              <a:t>Multus/OVS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3F063-A113-440A-8CD5-3990A7A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53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67647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3284C-FCB8-4344-ADBC-9D84B0F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38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NMI/CIC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C2AE5-8B49-48FB-A111-AA6674D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Nephio roda no mesmo cluster NMI; PackageVariants entregam workloads NMI e CIC por Git/Flux.</a:t>
            </a:r>
          </a:p>
        </p:txBody>
      </p:sp>
    </p:spTree>
    <p:extLst>
      <p:ext uri="{BB962C8B-B14F-4D97-AF65-F5344CB8AC3E}">
        <p14:creationId xmlns:p14="http://schemas.microsoft.com/office/powerpoint/2010/main" val="7371323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15116-B189-4271-8129-F9C9408C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66F88-3140-48CA-B732-3005512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NMI: telecom, Nephio e observabilidade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3D3D1-F257-4724-9514-A818260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D2869-3834-4864-AC3C-1526C682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D500F-7390-4FF5-9894-70450F23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14750" cy="35242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105 ·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82921-E3A9-468D-A7FE-B51968C8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811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5g-core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Open5GS NFs + MongoDB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78B8D-D5D8-499C-962D-3CDAB3CB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15430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OCUDU CU/DU + srsUE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N2 · F1-C · E2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EF07F-A78B-403E-B7E1-64C3A26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2956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RIC base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E2Mgr · SubMgr · AppMgr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A1 · DBaaS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D1166-1C22-4401-82A3-78A7B45A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076450" cy="35242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rede .71 · dois workers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45091-BD50-4625-8C0E-42BFCB1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16573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111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E2Term + RTMgr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BE2A9-3F47-4B74-8208-B081DBA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67150"/>
            <a:ext cx="16573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113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Nephio + Porch + Web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16C0-BB3F-44E7-BA40-B9E189FE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2076450" cy="35242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VM 112 · worker .72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14F6D-9C2A-4CBE-B161-CD97B65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6573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ricxapp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simple-mon + load-watch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KPM + estados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D707E-F61F-47F8-AF5B-DB3B2F14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133600" cy="352425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nmi-srv03 · físico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AC442-D732-4137-A368-78DD71E3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43150"/>
            <a:ext cx="17145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monitoring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Prometheus · Grafana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Loki · Alertmanager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416E1-EEE5-4808-8FFC-B4BBED6B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67150"/>
            <a:ext cx="1714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Alloy DaemonSet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logs nos 5 nós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9DF1E-7A37-4E3A-B249-55E4D766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19FA2-B6FF-4F1F-A1A1-EF25D179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AD6E8-37C4-45CC-AE6A-F5A340E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676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C9DE0-0710-4B27-A087-6C52378B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38800"/>
            <a:ext cx="94107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5 nós amd64 no NMI · telecom, GitOps e observabilidade distribuídos · interfaces E2 preservadas</a:t>
            </a:r>
          </a:p>
        </p:txBody>
      </p:sp>
    </p:spTree>
    <p:extLst>
      <p:ext uri="{BB962C8B-B14F-4D97-AF65-F5344CB8AC3E}">
        <p14:creationId xmlns:p14="http://schemas.microsoft.com/office/powerpoint/2010/main" val="237018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F6D8B-09B7-417B-861F-7EEA81BA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5891E-BFF7-41AE-95B5-04C17ED7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Três perfis UE usam um enlace ZMQ em sequência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DAC64-87B4-4F9B-B983-0DBF3116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C7D49-93C2-4BBE-A7BF-E3997C7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7B071-EE06-4389-82D4-26D9B67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861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FAB70-AB7A-4135-90C0-6E9CDEAE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861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A63E3-33D1-4389-8D15-CE92005B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861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3CFB3-03D7-495D-A5BC-58430267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861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61214-441F-40B0-834B-412F1014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05FA6-0451-4345-8C90-F782727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428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srsUE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UE1 / UE2 / UE3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44AD7-9063-4178-82F6-EEA340B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1428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DU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ZMQ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82744-D1FA-4C5C-AB89-0440096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1428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F1 / N3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6A2A5-CAEA-4CF3-B1A9-C83D5C60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28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AMF + SMF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NAS / sessão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DAD89-A313-4221-BCAE-313DF95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1428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GTP-U / NAT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8B0E1-0016-4F1E-94F2-027D772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05100"/>
            <a:ext cx="1428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Internet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ou 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33C86-AA89-4310-AB51-27CCF05D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 que já foi provado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C04D6-E937-4607-B046-70FFAB64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IMSI ...001, ...002 e ...003; um peer por vez; sessão PDU e egress pelo UPF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B91B1-81FB-4254-BAD7-9095C5D7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4667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Validado: UE2 recebeu 10.45.0.18; UE3 recebeu 10.45.0.19. Ambos fizeram HTTP 200 e acionaram a xApp no Grafana.</a:t>
            </a:r>
          </a:p>
        </p:txBody>
      </p:sp>
    </p:spTree>
    <p:extLst>
      <p:ext uri="{BB962C8B-B14F-4D97-AF65-F5344CB8AC3E}">
        <p14:creationId xmlns:p14="http://schemas.microsoft.com/office/powerpoint/2010/main" val="12600974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34441-D858-490B-8A7D-2C00E31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E6956-6BCC-4FCF-848F-9F63F77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Near-RT RIC: E2, assinaturas e rotas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157F5-6224-4775-90DF-552905B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1A669-246E-4D5B-B0CB-B6FB9A83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B7BE1-6683-4A49-A7E3-A6783D34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DB12D-4681-4476-92F1-38EBC3F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3812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OCUDU CU/DU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A54EE-BDF5-4274-B628-C4ED1182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952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E62F4-2E0E-4090-AA99-2FEFC5DF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2095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E2Term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SCTP / E2AP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983B8-65AB-4EB0-A066-F11AA2AF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2095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E2Mgr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inventário e 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A9D23-07BA-4172-BC73-8355586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1905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SubMgr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assinaturas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9C402-24E9-4CA9-878C-F65CD44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2095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RTMgr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rotas RMR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7AADC-1C91-4E7F-B512-BEE3629B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905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AppMgr + A1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ciclo da xApp / políticas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995E5-5CC8-439C-A5B0-CCD58BE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000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DBaaS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Redis + SDL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AEBE0-8B0F-41F9-AC24-EE433254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E2 é o elo de controle/telemetria. O tráfego do usuário não passa pelo RIC.</a:t>
            </a:r>
          </a:p>
        </p:txBody>
      </p:sp>
    </p:spTree>
    <p:extLst>
      <p:ext uri="{BB962C8B-B14F-4D97-AF65-F5344CB8AC3E}">
        <p14:creationId xmlns:p14="http://schemas.microsoft.com/office/powerpoint/2010/main" val="875574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1B5FA-2FB5-4316-B03E-051870E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096E6-BB70-41AA-BEF0-5F941F2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Duas xApps monitoram KPM; não controlam a 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CD997-3985-4E4D-8A6A-09526DDB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5EC1E-F1F2-492F-BF06-F322C1E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C812C-A5F1-4D27-A5E9-341A2A52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F560C-9ECF-46DD-B644-515D7BDA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E83D0-DF56-41E3-840C-A01E2A73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E2 Node ID dinâmico (gnbd_*)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B0DA1-92E8-416D-B0CB-A1F344C8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39A81-F99E-4E98-8790-57BC0BAF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 Function ID =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37A4E-3E52-4607-9BEF-14EA8685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A153C-3990-445C-BEA5-851D1A35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DRB.UEThpDl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EF13D-346A-4DAF-AB17-A9D87479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459E7-6028-46F7-AB7B-C9E711E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 s simple-mon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3 s load-watch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D13A6-AC62-4882-B4FC-FB5373B5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990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4EC0B-DC2C-4BB2-8146-12D82D84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8575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simple-mon: exporta KPI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load-watch: média móvel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idle / active / busy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RMR 12050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DF414-64E4-4BB4-9508-B8D3555D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742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F03B3-0D61-45A5-9BC6-763FA3D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81250"/>
            <a:ext cx="1619250" cy="21336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Prometheus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Grafana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estado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transições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2DF9B-F5CE-4508-9A6F-569ED75F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762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UE3: busy + active + idle; pico 26.083 kbps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83129-C57D-44C6-A837-6DA01192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54483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Próximo: KPI por UE, rádio real e E2SM-RC</a:t>
            </a:r>
          </a:p>
        </p:txBody>
      </p:sp>
    </p:spTree>
    <p:extLst>
      <p:ext uri="{BB962C8B-B14F-4D97-AF65-F5344CB8AC3E}">
        <p14:creationId xmlns:p14="http://schemas.microsoft.com/office/powerpoint/2010/main" val="15562384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27FBE-2A5F-4B1A-B2A0-FEF791B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E14EA-3846-4C0F-A936-5D81CA9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Fluxo KPM pela interface E2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BBB17-9B30-4B8E-88FF-0A874F5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19EFF-B566-4995-BEB6-C56BEBEA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79EE2-1ED3-439B-99DA-E848CCA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956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5AD40-53EE-4CC7-9366-25556BC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956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35CD5-FD2A-4CB3-9B4A-603B427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956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6B4DF-5C8B-4DF1-A470-3D4FFCC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56E0D-A52B-4A77-B6C5-8DF49B2C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9562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4AD3A-AEE7-4CBE-8E87-8C7E4420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428750" cy="1619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xApp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registra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56478-21D4-4358-AC50-0B3453B6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81250"/>
            <a:ext cx="1428750" cy="1619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AppMgr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expõe 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F9312-164A-4617-96C5-26E00980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1428750" cy="1619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SubMgr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cria assinatura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1B92A-6660-486C-A47E-E482E43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428750" cy="1619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RTMgr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instala rotas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9EF5C-E3E6-44D8-892E-70940EA8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1428750" cy="1619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E2Term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traduz E2/RMR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AB54E-0FC4-4AD6-B314-E030CEA7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428750" cy="1619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CU/DU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reporta KPM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7D9A6-9EF6-4146-AAF9-BAC37AC9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05400"/>
            <a:ext cx="781050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3C246-CA36-43A2-8C39-70AD5612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43400"/>
            <a:ext cx="775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retorno: E2SM-KPM Indication → E2Term → RMR 12050 → decode ASN.1 → métrica Prometheus → painel Grafana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80B9E-EDCD-4FB0-B8CE-349C587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8953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Correções aplicadas: buffer RMR reutilizado, yield de 10 ms no timeout normal, rota 12050 validada e E2Term preservado durante rollouts.</a:t>
            </a:r>
          </a:p>
        </p:txBody>
      </p:sp>
    </p:spTree>
    <p:extLst>
      <p:ext uri="{BB962C8B-B14F-4D97-AF65-F5344CB8AC3E}">
        <p14:creationId xmlns:p14="http://schemas.microsoft.com/office/powerpoint/2010/main" val="19792970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DEBE6-0CFC-45AF-867E-C692911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63592-E3B0-417B-BCDB-B87F96C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Estado comprovado nos dois clusters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1863D-0E46-4661-9813-8AB1CE0E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548C7-1E9E-46FD-855A-5FD925F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CAF30-91DD-4BAE-A412-55660D6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Componente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7963C-F63C-4868-9D13-188489F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90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1703C-ACA8-4ADF-A4D2-A0A5C4AA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203AE-64E2-4EFC-83B9-9F71322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FED4B-59BB-4C0D-864D-A6F3ABDB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Kubernetes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C800D-8EDB-4DC6-9618-1939979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5/5 NMI; 2/2 CIC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B6633-2B81-4870-A9D1-CFCE905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 nós amd64 + 2 nós arm64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8B36C-F0CC-42D1-AEA0-9517DF8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58AB4-D1F0-4902-B913-C7D301A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Distribuição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DED10-8C75-466F-82A9-7DB18099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Multi-site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3BCBB-E1EC-456D-BE48-A18DB232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NMI: telecom/Nephio | CIC: xApp ARM64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4176C-20A4-4BDB-B640-A02D41F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EC351-8052-462B-88B9-792BF097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Open5GS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CBF5-B41D-48A4-8FCB-F73645C7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3 assinantes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C13AC-2ADA-4444-AD9F-248F2359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IMSI ...001 / ...002 / ...003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D8772-8AFD-4E8C-A7E0-4D417231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9EF8D-A884-46F3-8C21-382770B1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E2 + xApp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334FC-E0B0-4654-B4C8-144B4A28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3 xApps ativas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0B527-D564-4FC7-94D4-292A0C0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 NMI + 1 CIC; assinaturas independentes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A4AA1-6CF6-4914-890B-E211544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510BD-0FAC-4EDE-BB83-AE38976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A05554-1A5E-492B-AE86-F320839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UE2 + UE3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A08088-80B1-4E95-A91E-9C69B46E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PDU .18/.19 + HTTP 200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C1925-D51D-4C83-A5B5-9569EC6D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DA1C9-CB37-42CF-895A-90C100D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KPM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80F36-BCB8-4574-81D1-47B4C6C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28.841 kbps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1EBCF-F1AE-4DB1-8991-F411DE9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load-watch: pico médio 26.083 kbps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9FC3D-2384-4F66-B6F1-425C13C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10FF5-7843-4B2E-A240-878BB2E5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C3662-26B8-4899-B4A3-0F5B2C43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86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Ativa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E8EE18-B829-41AA-BB7F-4D5DF7C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86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Grafana reúne NMI e CIC</a:t>
            </a:r>
          </a:p>
        </p:txBody>
      </p:sp>
    </p:spTree>
    <p:extLst>
      <p:ext uri="{BB962C8B-B14F-4D97-AF65-F5344CB8AC3E}">
        <p14:creationId xmlns:p14="http://schemas.microsoft.com/office/powerpoint/2010/main" val="7062266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4AE26-FB9C-4DBF-8EA2-00035B5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776A6-966F-4EDA-8FCB-F0F4FEFF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Demo: Nephio → novo UE → nova xApp → Grafana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1D5D2-9828-49C0-A3E7-C0F9380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A41FC-4EC7-446E-8928-E0F63CB1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7AED7-C734-44C4-A174-2605289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7053E-54C8-4011-A1B5-38DB65A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Abrir a WebUI e mostrar os três assinantes Open5GS.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E16B7-A612-4AA6-B373-6BF778A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3B609-91D2-4273-A942-E3D0549C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28875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Mostrar 5 nós Ready no NMI e 2 nós ARM64 no CIC.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FA94E-AC62-4421-81F5-5F54654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B4CE9-001F-4A65-B6DD-5412232B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Abrir Nephio/Porch: variantes NMI, CIC e load-watch.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AE630-00C3-472C-86B2-EF2BAEA6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42411-FC5F-4DA4-AB21-C3E40CE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05225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Executar scripts/demo-ue-lab.sh ue2 ou ue3.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E7A22-CDEC-45C1-8F87-E4415D0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EB457-A44A-4175-9463-BD5CCDD7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Ver idle, active e busy no painel load-watch.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172D7-A3E9-4B0E-8DB5-7E03E0AC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7AB69-FC34-479D-895A-295156FF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81575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Mostrar Flux Ready e a mesma imagem amd64/arm64.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AA6D6-7743-4BF2-88D7-E8F01BDE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3143250" cy="3333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Evidência preparada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- 3 assinantes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- 3 PackageVariants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- Flux NMI/CIC Ready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- 2 xApps no NMI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- 1 xApp ARM64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- UE3 + KPM HTTP 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999B1-A27F-4144-812D-EB3A5C4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 demonstração inteira é reproduzível pela VPN institucional do NMI.</a:t>
            </a:r>
          </a:p>
        </p:txBody>
      </p:sp>
    </p:spTree>
    <p:extLst>
      <p:ext uri="{BB962C8B-B14F-4D97-AF65-F5344CB8AC3E}">
        <p14:creationId xmlns:p14="http://schemas.microsoft.com/office/powerpoint/2010/main" val="14584798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E05FF-221D-40C9-A052-37140B9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9B4F9-2A53-4E4F-A6C1-B6FD0474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 fork resolveu os bloqueios da pilha original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5C59A-0DD1-4485-8DFA-D5E2E8F7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38E77-3B87-43E0-A095-349C18E7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ED61B-2B57-4615-8A84-A80195F1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SCTP instável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2F5C6-1D96-46B8-8E31-86443216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Multus + OVS dedicados para N2, F1-C e E2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C6403-D703-49AD-B4C1-CC0EBA5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199C7-EA5C-4D93-8586-CC34B2AF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Imagens RIC indisponíveis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FE699-316E-49A1-8F9C-728A3A9C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860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M-release reconstruída e publicada no GHCR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FA38E-6CA0-4474-8BAE-29C1C9F2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1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615EC-28DD-4119-831F-8FDAF22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srsUE sem egress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B0DCF-8153-47E2-8F1B-1DD3A95E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PFCP/UPF, NAT e retorno do plano de dados corrigidos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EB184-C32E-4032-8C08-2C6D5A6E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0355C-235A-455F-8AFF-5459E88F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52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xApp sem KPM útil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3F567-E8E3-4670-AD1E-BFF28E3B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8627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RLC → DRB.UEThpDl, buffer RMR e métricas Prometheus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50646-F661-4F04-894E-F6E3B6E0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721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85559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5EE705-83E9-463C-BD8E-90093DC9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43F33-98DB-45B4-BA6D-B16178D5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Limites do laboratório viram agenda de pesquisa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A1B08-B540-4DB0-8657-50A2CA59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9B9B1-D400-4DC1-8CBF-DA8F5EC9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EF823-3AE8-482F-9861-A13359B9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Limites assumidos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CB4A4-14C9-488D-A704-2B735D4C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9DE57-1BD6-4139-B4AD-C02831EB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um único peer de rádio ZMQ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9BD7C-2A56-424B-B7DD-D4914B5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097D-8A96-4F19-BCD1-0620C0C3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KPM Report Style 1 agregado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0BF5B-E715-4F92-8680-2373656C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DA325-2193-4CBD-A625-0B9F7C8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um control plane por laboratório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F1550-D41B-4C5A-A9AA-CB99A916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53E26-2F08-498C-9880-0685647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K/OPc compartilhado nos perfis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80A61-949E-4B16-AA5F-0AEB628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EAF5F-74B7-4327-9ABE-B031BFA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ainda sem rádio e SIM físicos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6E798-7192-4C8A-8EA0-EA2B9A29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6A5A3-8317-4957-80BC-68B5E8D3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 que isso habilita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EF95A-26CD-46BB-B109-A5A294F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212AF-A66F-477A-BAA6-9B9FF762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UEs simulados entram em sequência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E5D02-BF55-4A7B-B24B-A30F37F6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186A8-A874-4C37-9E8F-17AF61C2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575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xApp vê carga do nó, não o IMSI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33BA2-0EC8-4B93-94CB-D1726ED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553A5-15F1-48AC-8CB3-0CE34901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falhas são aceitáveis nesta POC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D980D-77C4-4296-AA20-F210809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B20DA-4552-4DCF-84AF-BB429AD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95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SIM real exige K/OPc exclusivo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E0F98-6890-404D-91DD-3F80708F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D64B4-398D-480E-9DA4-07C68366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00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artigos podem explorar multi-UE e controle</a:t>
            </a:r>
          </a:p>
        </p:txBody>
      </p:sp>
    </p:spTree>
    <p:extLst>
      <p:ext uri="{BB962C8B-B14F-4D97-AF65-F5344CB8AC3E}">
        <p14:creationId xmlns:p14="http://schemas.microsoft.com/office/powerpoint/2010/main" val="13928377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369CC-91FA-49D8-9652-B003929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413C8-C807-483E-A157-6A8DBD5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NMI e CIC já executam o mesmo pacote multiarch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1B92A-A669-4A2D-AB2B-F421BE84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1F2EF-2000-45EA-81DE-8BAD41DC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5EEB4-8BC2-48E9-A782-8AE261CD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909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3498C-4203-4EB8-A745-08F2DFD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0">
            <a:solidFill>
              <a:srgbClr val="0676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67E34-FDBE-400E-9F35-203DF36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5146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NMI · 5 nós amd64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Core + RAN + RIC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Nephio + 2 xApps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C6BAA-07B9-423E-AF55-81E22AE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367665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Porch + PackageVariant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Flux NMI/CIC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imagem por digest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amd64 + arm64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BA659-A2DC-410C-B3C1-C138D00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562350" cy="26670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CIC · 2 nós arm64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r4-simple-mon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1 assinatura KPM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1.000+ indicações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A72E5-8FF7-46CB-B59E-55D8C5F3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982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0676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Comprovado: mesma imagem multiarch, Flux Ready nos dois sites, KPM local/remoto e telemetria conjunta no Grafana.</a:t>
            </a:r>
          </a:p>
        </p:txBody>
      </p:sp>
    </p:spTree>
    <p:extLst>
      <p:ext uri="{BB962C8B-B14F-4D97-AF65-F5344CB8AC3E}">
        <p14:creationId xmlns:p14="http://schemas.microsoft.com/office/powerpoint/2010/main" val="10561691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339B2-EB63-4C38-A9C4-6C87C81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478EF-3E93-436F-A8F5-2EE2A4D9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Nephio complementa Kubernetes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BA313-EEC5-49C0-BCBA-247589C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D0E81-40FA-4D83-B93F-B274BFF4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CA789-E28D-4CCE-8706-85FD0EE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Nephio 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C6E4B-6B4A-41E1-B180-D161A292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3C1AA-1D7C-4168-A7AD-B38132FE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orquestração de pacotes KRM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D70E4-FA2D-468A-AFFF-9703FE1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CED2A-541B-480F-AFAA-611E5522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especialização por 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593D-76DF-48C9-929F-D8D1B4F1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73B04-30EA-4DC5-8CBF-AB96C20A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aprovação e auditoria em 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6265-A895-4D21-9A5A-56FFC9B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D2DDE-FDC5-478C-BBDA-5694E15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deploy e rollback via Git/Flux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1B8AC-A6D0-440B-B026-D40697AC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59401-9B76-4C3F-932B-52C6ED1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variantes por site e arquitetura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7C711-11C7-4ABF-B3C0-47344BC7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2B24B-1885-4E1F-B0D5-10ADBB33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Nephio não 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12C7C-B03B-425F-B736-FEBD5E2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AB170-1400-471C-8248-EA0A2200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hipervisor ou criador obrigatório de VMs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AC2C5-47CE-48F7-9176-C11E3CE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9BF96-6187-454B-849F-3795CE1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575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distribuição Kubernetes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66553-C739-4AA0-9E7A-7AF281F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4949D-965C-48D1-A1D9-A63D83DE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gerenciador genérico de clusters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D549E-D7AB-411E-AF18-01108E0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87658-0B2C-472F-A52C-F686847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95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Near-RT RIC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CA35-55CE-42E7-8C05-A66DAEF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C7CCC-739F-43CE-AD75-CF8CDC1A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00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cadastro de SIM ou 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E7ACE-7F91-43FB-8629-17E794A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62600"/>
            <a:ext cx="87249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Aqui, Nephio roda no cluster NMI e entrega pacotes ao próprio NMI e ao CIC. Kubernetes continua executando os workloads.</a:t>
            </a:r>
          </a:p>
        </p:txBody>
      </p:sp>
    </p:spTree>
    <p:extLst>
      <p:ext uri="{BB962C8B-B14F-4D97-AF65-F5344CB8AC3E}">
        <p14:creationId xmlns:p14="http://schemas.microsoft.com/office/powerpoint/2010/main" val="1396494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8D2D1-88E5-4899-A330-2FA1A85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700FC-CFF3-4DD5-8EC6-3C897983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Nephio já entrega variantes NMI e CIC via GitOps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D7983-5ADD-46AA-BE15-FA8FAB77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9E46-6D0E-43A8-9700-6874594D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A55CC-2C3D-4F77-8AAC-D87229F8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43100"/>
            <a:ext cx="1524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521F1-F80C-4DDB-B037-FD842BA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1524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82630-0ABE-4D4C-85E1-63FEC3A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1428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3635C-D593-411F-92D9-1883137E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4000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Intenção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xApp + site + arquitetura + endpoints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26FBA-0AE3-4A6C-ADEC-BB521D6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57150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Mesmo cluster NMI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 UI | Porch | controllers | Gitea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8942C-3D7C-4798-B9F2-7979CF9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409575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NMI · amd64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Flux Ready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simple-mon + load-watch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9CF98-5C89-423F-ABF0-FA67665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48200"/>
            <a:ext cx="371475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CIC · arm64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Flux Ready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simple-mon multiarch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A3DB4-0113-44E3-926D-3BEBCA2D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4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GitOps</a:t>
            </a:r>
          </a:p>
        </p:txBody>
      </p:sp>
    </p:spTree>
    <p:extLst>
      <p:ext uri="{BB962C8B-B14F-4D97-AF65-F5344CB8AC3E}">
        <p14:creationId xmlns:p14="http://schemas.microsoft.com/office/powerpoint/2010/main" val="17334603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00F6A-53F9-46DB-93F5-E137372E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25734-091F-4AE6-9AC5-81C4E30F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Seis marcos concluídos; o próximo é didático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61D30-1D44-498D-B45C-FCF65AEA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DBC8A-B122-4F64-85CD-8934599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139B5-0A8E-4C54-894F-4F2B662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4B317-AFA8-4EFB-8D54-89CADB23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E518A-C3E1-4004-A90A-588EAE1D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A4BB5-19B9-44B8-B8A0-FE5F86A8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091F1-A90F-4798-8986-AD13E450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xApp KPM, egress do UE e RIC estável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593DA-49F8-4B38-A366-B21F1DD3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D948A-343A-4182-ADF5-E37FE9F1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8B320-9A82-40E1-A179-D81C962D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Multi-host + 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BC5C7-DD4A-481A-9FFE-15CAE069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577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 nós NMI, OVS, logs e alertas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E9E06-D92D-4022-901A-201551C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0C467-B781-4726-822C-884E1546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C3D79-8381-4603-B4C8-DF93A615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Nephio + GitOps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37485-8EED-4F38-9685-4B0FDFAA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Porch no NMI + variantes NMI/CIC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3D6BF-DB43-4CE4-A25A-216DBB7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CE711-2C29-45A9-AD9D-62E5150C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7C0F8-6C96-48DD-9E85-A389F968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xApps + ARM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F83D4-261B-41E2-9113-7C6CBF1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simple-mon NMI/CIC + load-watch + 3 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28BD6-0D5A-46BA-AF50-4D8240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525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4288">
            <a:solidFill>
              <a:srgbClr val="B5470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Próximo: tutorial de aluno, nova xApp, testes UE repetíveis e preparação para rádio real.</a:t>
            </a:r>
          </a:p>
        </p:txBody>
      </p:sp>
    </p:spTree>
    <p:extLst>
      <p:ext uri="{BB962C8B-B14F-4D97-AF65-F5344CB8AC3E}">
        <p14:creationId xmlns:p14="http://schemas.microsoft.com/office/powerpoint/2010/main" val="18643475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B553B-C048-4C1F-B5B6-53B741B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RAN POC - UNB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10A03-D4F3-427A-8F6E-FB9D7D9F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Próximo marco: laboratório guiado para alunos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443CB-45B1-489A-A730-53F26359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0BB4-0F19-4ADF-8EA9-32ED5CF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84DD4-122F-4784-A504-13A34756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Experimentos dos alunos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87BFC-439D-4B52-8C16-9824072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F9AB0-D232-412B-9621-1E1E3D5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Criar uma xApp pelo scaffold e escrever o algoritmo.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2F592-52F7-47EA-B9F1-46B596D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77545-E950-46F6-A2B3-9BAB5E9C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Publicar imagem multiarch fixada por digest.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72B98-5037-4436-BFEF-BB82168F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C2810-08B8-43C2-9847-B0D4662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Publicar Team Blueprint e PackageVariant no Porch.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10691-1C55-42F3-88A8-6915587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4AE91-5AC6-4A77-B2CF-78A3BAB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Entregar por Flux no NMI e testar a variante CIC.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86BF1-C009-4DA9-993A-A978F0E3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746B0-ECF9-40DD-A437-088475B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Executar UE2/UE3 e correlacionar o KPI no Grafana.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9BA48-2319-4DE6-ABFF-603E6F58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4099B-6841-422B-BDD4-BF55BDE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Evoluir para KPI por UE, rádio real e E2SM-RC.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F63CD-4DBF-4983-BF35-DF429E03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3048000" cy="31432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Critério de sucesso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Um aluno cria, publica e implanta uma xApp; gera tráfego com um perfil UE; e explica a evidência KPM no Grafana.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20840-F863-4C6E-BA6C-F50DEE0F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Tutorial pronto; o próximo experimento será criado e apresentado pelos alunos.</a:t>
            </a:r>
          </a:p>
        </p:txBody>
      </p:sp>
    </p:spTree>
    <p:extLst>
      <p:ext uri="{BB962C8B-B14F-4D97-AF65-F5344CB8AC3E}">
        <p14:creationId xmlns:p14="http://schemas.microsoft.com/office/powerpoint/2010/main" val="848040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2026-08-31T04:52:02.5100000Z</dcterms:created>
  <dcterms:modified xsi:type="dcterms:W3CDTF">2026-08-31T04:52:02.5100000Z</dcterms:modified>
</coreProperties>
</file>